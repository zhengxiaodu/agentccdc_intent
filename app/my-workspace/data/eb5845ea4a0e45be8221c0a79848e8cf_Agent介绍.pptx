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57" r:id="rId3"/>
    <p:sldId id="258" r:id="rId4"/>
    <p:sldId id="259" r:id="rId5"/>
    <p:sldId id="265" r:id="rId6"/>
    <p:sldId id="260" r:id="rId7"/>
    <p:sldId id="262" r:id="rId8"/>
    <p:sldId id="266" r:id="rId9"/>
    <p:sldId id="263" r:id="rId10"/>
    <p:sldId id="264" r:id="rId11"/>
    <p:sldId id="267" r:id="rId12"/>
    <p:sldId id="280" r:id="rId13"/>
    <p:sldId id="268" r:id="rId14"/>
    <p:sldId id="269" r:id="rId15"/>
    <p:sldId id="270" r:id="rId16"/>
    <p:sldId id="271" r:id="rId17"/>
    <p:sldId id="277" r:id="rId18"/>
    <p:sldId id="272" r:id="rId19"/>
    <p:sldId id="278" r:id="rId20"/>
    <p:sldId id="274" r:id="rId21"/>
    <p:sldId id="273" r:id="rId22"/>
    <p:sldId id="279" r:id="rId23"/>
    <p:sldId id="275" r:id="rId24"/>
    <p:sldId id="276" r:id="rId25"/>
    <p:sldId id="281" r:id="rId26"/>
    <p:sldId id="282" r:id="rId27"/>
    <p:sldId id="283" r:id="rId28"/>
    <p:sldId id="284" r:id="rId29"/>
    <p:sldId id="285" r:id="rId30"/>
    <p:sldId id="286" r:id="rId31"/>
    <p:sldId id="287"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68" y="5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FB8D9D-1D65-F8A1-3ADD-ECFAB7AFB58E}"/>
              </a:ext>
            </a:extLst>
          </p:cNvPr>
          <p:cNvSpPr>
            <a:spLocks noGrp="1"/>
          </p:cNvSpPr>
          <p:nvPr>
            <p:ph type="title"/>
          </p:nvPr>
        </p:nvSpPr>
        <p:spPr/>
        <p:txBody>
          <a:bodyPr/>
          <a:lstStyle/>
          <a:p>
            <a:r>
              <a:rPr lang="en-US" altLang="zh-CN" dirty="0"/>
              <a:t>Agent</a:t>
            </a:r>
            <a:r>
              <a:rPr lang="zh-CN" altLang="en-US" dirty="0"/>
              <a:t>是什么</a:t>
            </a:r>
          </a:p>
        </p:txBody>
      </p:sp>
      <p:sp>
        <p:nvSpPr>
          <p:cNvPr id="3" name="内容占位符 2">
            <a:extLst>
              <a:ext uri="{FF2B5EF4-FFF2-40B4-BE49-F238E27FC236}">
                <a16:creationId xmlns:a16="http://schemas.microsoft.com/office/drawing/2014/main" id="{7F21E084-7361-7686-C7C7-DEA91291ED73}"/>
              </a:ext>
            </a:extLst>
          </p:cNvPr>
          <p:cNvSpPr>
            <a:spLocks noGrp="1"/>
          </p:cNvSpPr>
          <p:nvPr>
            <p:ph idx="1"/>
          </p:nvPr>
        </p:nvSpPr>
        <p:spPr/>
        <p:txBody>
          <a:bodyPr>
            <a:normAutofit/>
          </a:bodyPr>
          <a:lstStyle/>
          <a:p>
            <a:r>
              <a:rPr lang="zh-CN" altLang="en-US" sz="2400" dirty="0"/>
              <a:t>相比于直接调用大模型</a:t>
            </a:r>
            <a:endParaRPr lang="en-US" altLang="zh-CN" sz="2400" dirty="0"/>
          </a:p>
          <a:p>
            <a:r>
              <a:rPr lang="zh-CN" altLang="en-US" sz="2400" dirty="0"/>
              <a:t>一、数据增强：帮助用户获取更具时效性和专业性的信息，例如文心一言接入的百度搜索插件，使一言能够搜索全网的实时信息；此外还有帮助用户检索专业领域信息的插件，找房、找车、找法条、找股票</a:t>
            </a:r>
            <a:r>
              <a:rPr lang="en-US" altLang="zh-CN" sz="2400" dirty="0"/>
              <a:t>...</a:t>
            </a:r>
          </a:p>
          <a:p>
            <a:r>
              <a:rPr lang="zh-CN" altLang="en-US" sz="2400" dirty="0"/>
              <a:t>二、交互增强：帮助理解 </a:t>
            </a:r>
            <a:r>
              <a:rPr lang="en-US" altLang="zh-CN" sz="2400" dirty="0"/>
              <a:t>PDF</a:t>
            </a:r>
            <a:r>
              <a:rPr lang="zh-CN" altLang="en-US" sz="2400" dirty="0"/>
              <a:t>、图片、语音等多模态的输入，帮助一言生成思维导图、视频等多模态的输出。例如，支持用户上传文档，并基于文档进行问答的插件等。</a:t>
            </a:r>
            <a:endParaRPr lang="en-US" altLang="zh-CN" sz="2400" dirty="0"/>
          </a:p>
          <a:p>
            <a:r>
              <a:rPr lang="zh-CN" altLang="en-US" sz="2400" dirty="0"/>
              <a:t>三、服务增强：插件商店、工作流、多</a:t>
            </a:r>
            <a:r>
              <a:rPr lang="en-US" altLang="zh-CN" sz="2400" dirty="0"/>
              <a:t>agent</a:t>
            </a:r>
            <a:r>
              <a:rPr lang="zh-CN" altLang="en-US" sz="2400" dirty="0"/>
              <a:t>节点</a:t>
            </a:r>
          </a:p>
        </p:txBody>
      </p:sp>
    </p:spTree>
    <p:extLst>
      <p:ext uri="{BB962C8B-B14F-4D97-AF65-F5344CB8AC3E}">
        <p14:creationId xmlns:p14="http://schemas.microsoft.com/office/powerpoint/2010/main" val="243495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AF53F3DF-5C00-2ED9-A986-7727761FA937}"/>
              </a:ext>
            </a:extLst>
          </p:cNvPr>
          <p:cNvPicPr>
            <a:picLocks noGrp="1" noChangeAspect="1"/>
          </p:cNvPicPr>
          <p:nvPr>
            <p:ph idx="1"/>
          </p:nvPr>
        </p:nvPicPr>
        <p:blipFill>
          <a:blip r:embed="rId2"/>
          <a:stretch>
            <a:fillRect/>
          </a:stretch>
        </p:blipFill>
        <p:spPr>
          <a:xfrm>
            <a:off x="624693" y="127117"/>
            <a:ext cx="10853629" cy="6049846"/>
          </a:xfrm>
        </p:spPr>
      </p:pic>
      <p:sp>
        <p:nvSpPr>
          <p:cNvPr id="6" name="文本框 5">
            <a:extLst>
              <a:ext uri="{FF2B5EF4-FFF2-40B4-BE49-F238E27FC236}">
                <a16:creationId xmlns:a16="http://schemas.microsoft.com/office/drawing/2014/main" id="{19ECF39B-5391-2577-9F5E-A7CE6289468A}"/>
              </a:ext>
            </a:extLst>
          </p:cNvPr>
          <p:cNvSpPr txBox="1"/>
          <p:nvPr/>
        </p:nvSpPr>
        <p:spPr>
          <a:xfrm>
            <a:off x="4096214" y="6309512"/>
            <a:ext cx="4936273"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创建一个智能体，最低要求只需要一段简介</a:t>
            </a:r>
          </a:p>
        </p:txBody>
      </p:sp>
    </p:spTree>
    <p:extLst>
      <p:ext uri="{BB962C8B-B14F-4D97-AF65-F5344CB8AC3E}">
        <p14:creationId xmlns:p14="http://schemas.microsoft.com/office/powerpoint/2010/main" val="2784887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D7135688-CA92-C715-045D-F23663BC1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7163"/>
            <a:ext cx="12192000" cy="6542087"/>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183D44CE-BA99-6900-A28C-B6C7E7AA64A5}"/>
              </a:ext>
            </a:extLst>
          </p:cNvPr>
          <p:cNvSpPr txBox="1"/>
          <p:nvPr/>
        </p:nvSpPr>
        <p:spPr>
          <a:xfrm>
            <a:off x="5947317" y="1009857"/>
            <a:ext cx="4713248" cy="369332"/>
          </a:xfrm>
          <a:prstGeom prst="rect">
            <a:avLst/>
          </a:prstGeom>
          <a:noFill/>
        </p:spPr>
        <p:txBody>
          <a:bodyPr wrap="square" rtlCol="0">
            <a:spAutoFit/>
          </a:bodyPr>
          <a:lstStyle/>
          <a:p>
            <a:r>
              <a:rPr lang="zh-CN" altLang="en-US" dirty="0">
                <a:solidFill>
                  <a:srgbClr val="FF0000"/>
                </a:solidFill>
              </a:rPr>
              <a:t>创建工作流智能体</a:t>
            </a:r>
          </a:p>
        </p:txBody>
      </p:sp>
    </p:spTree>
    <p:extLst>
      <p:ext uri="{BB962C8B-B14F-4D97-AF65-F5344CB8AC3E}">
        <p14:creationId xmlns:p14="http://schemas.microsoft.com/office/powerpoint/2010/main" val="27156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55FB591-787B-9BB6-C50A-18CE2EC40B4E}"/>
              </a:ext>
            </a:extLst>
          </p:cNvPr>
          <p:cNvPicPr>
            <a:picLocks noChangeAspect="1"/>
          </p:cNvPicPr>
          <p:nvPr/>
        </p:nvPicPr>
        <p:blipFill>
          <a:blip r:embed="rId2"/>
          <a:stretch>
            <a:fillRect/>
          </a:stretch>
        </p:blipFill>
        <p:spPr>
          <a:xfrm>
            <a:off x="842229" y="1047417"/>
            <a:ext cx="10507541" cy="4763165"/>
          </a:xfrm>
          <a:prstGeom prst="rect">
            <a:avLst/>
          </a:prstGeom>
        </p:spPr>
      </p:pic>
    </p:spTree>
    <p:extLst>
      <p:ext uri="{BB962C8B-B14F-4D97-AF65-F5344CB8AC3E}">
        <p14:creationId xmlns:p14="http://schemas.microsoft.com/office/powerpoint/2010/main" val="1478526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70B613-1D87-F1F8-FCAA-DBFCFD81450D}"/>
              </a:ext>
            </a:extLst>
          </p:cNvPr>
          <p:cNvSpPr>
            <a:spLocks noGrp="1"/>
          </p:cNvSpPr>
          <p:nvPr>
            <p:ph type="title"/>
          </p:nvPr>
        </p:nvSpPr>
        <p:spPr/>
        <p:txBody>
          <a:bodyPr/>
          <a:lstStyle/>
          <a:p>
            <a:r>
              <a:rPr lang="zh-CN" altLang="en-US" dirty="0"/>
              <a:t>多</a:t>
            </a:r>
            <a:r>
              <a:rPr lang="en-US" altLang="zh-CN" dirty="0"/>
              <a:t>Agent</a:t>
            </a:r>
            <a:r>
              <a:rPr lang="zh-CN" altLang="en-US" dirty="0"/>
              <a:t>模式</a:t>
            </a:r>
          </a:p>
        </p:txBody>
      </p:sp>
      <p:pic>
        <p:nvPicPr>
          <p:cNvPr id="7" name="图片 6">
            <a:extLst>
              <a:ext uri="{FF2B5EF4-FFF2-40B4-BE49-F238E27FC236}">
                <a16:creationId xmlns:a16="http://schemas.microsoft.com/office/drawing/2014/main" id="{16A725BD-39FB-28D5-94F6-62A0AAE3FBEB}"/>
              </a:ext>
            </a:extLst>
          </p:cNvPr>
          <p:cNvPicPr>
            <a:picLocks noChangeAspect="1"/>
          </p:cNvPicPr>
          <p:nvPr/>
        </p:nvPicPr>
        <p:blipFill>
          <a:blip r:embed="rId2"/>
          <a:stretch>
            <a:fillRect/>
          </a:stretch>
        </p:blipFill>
        <p:spPr>
          <a:xfrm>
            <a:off x="2317578" y="1695994"/>
            <a:ext cx="7205564" cy="5174861"/>
          </a:xfrm>
          <a:prstGeom prst="rect">
            <a:avLst/>
          </a:prstGeom>
        </p:spPr>
      </p:pic>
    </p:spTree>
    <p:extLst>
      <p:ext uri="{BB962C8B-B14F-4D97-AF65-F5344CB8AC3E}">
        <p14:creationId xmlns:p14="http://schemas.microsoft.com/office/powerpoint/2010/main" val="1355138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E5FE1A-AD39-EBCA-EB5C-54BE2049C4F5}"/>
              </a:ext>
            </a:extLst>
          </p:cNvPr>
          <p:cNvSpPr>
            <a:spLocks noGrp="1"/>
          </p:cNvSpPr>
          <p:nvPr>
            <p:ph idx="1"/>
          </p:nvPr>
        </p:nvSpPr>
        <p:spPr>
          <a:xfrm>
            <a:off x="934844" y="1134250"/>
            <a:ext cx="10515600" cy="4351338"/>
          </a:xfrm>
        </p:spPr>
        <p:txBody>
          <a:bodyPr/>
          <a:lstStyle/>
          <a:p>
            <a:r>
              <a:rPr lang="zh-CN" altLang="en-US" b="1" dirty="0"/>
              <a:t>工作流和多 </a:t>
            </a:r>
            <a:r>
              <a:rPr lang="en-US" altLang="zh-CN" b="1" dirty="0"/>
              <a:t>Agent </a:t>
            </a:r>
            <a:r>
              <a:rPr lang="zh-CN" altLang="en-US" b="1" dirty="0"/>
              <a:t>模式有什么区别？ </a:t>
            </a:r>
          </a:p>
          <a:p>
            <a:pPr>
              <a:buFont typeface="Arial" panose="020B0604020202020204" pitchFamily="34" charset="0"/>
              <a:buChar char="•"/>
            </a:pPr>
            <a:r>
              <a:rPr lang="zh-CN" altLang="en-US" dirty="0">
                <a:effectLst/>
              </a:rPr>
              <a:t>工作流是一种以低代码方式开发插件的方法。您可以将各种节点添加到工作流中，并像为智能体添加插件一样，添加并使用工作流。 </a:t>
            </a:r>
          </a:p>
          <a:p>
            <a:pPr>
              <a:buFont typeface="Arial" panose="020B0604020202020204" pitchFamily="34" charset="0"/>
              <a:buChar char="•"/>
            </a:pPr>
            <a:r>
              <a:rPr lang="zh-CN" altLang="en-US" dirty="0">
                <a:effectLst/>
              </a:rPr>
              <a:t>多 </a:t>
            </a:r>
            <a:r>
              <a:rPr lang="en-US" altLang="zh-CN" dirty="0">
                <a:effectLst/>
              </a:rPr>
              <a:t>Agent </a:t>
            </a:r>
            <a:r>
              <a:rPr lang="zh-CN" altLang="en-US" dirty="0">
                <a:effectLst/>
              </a:rPr>
              <a:t>模式允许您通过将不同的人物设定分配给不同的 </a:t>
            </a:r>
            <a:r>
              <a:rPr lang="en-US" altLang="zh-CN" dirty="0">
                <a:effectLst/>
              </a:rPr>
              <a:t>Agent </a:t>
            </a:r>
            <a:r>
              <a:rPr lang="zh-CN" altLang="en-US" dirty="0">
                <a:effectLst/>
              </a:rPr>
              <a:t>来扩展智能体的功能。用户与一个 </a:t>
            </a:r>
            <a:r>
              <a:rPr lang="en-US" altLang="zh-CN" dirty="0">
                <a:effectLst/>
              </a:rPr>
              <a:t>Agent </a:t>
            </a:r>
            <a:r>
              <a:rPr lang="zh-CN" altLang="en-US" dirty="0">
                <a:effectLst/>
              </a:rPr>
              <a:t>交谈时，当用户输入的内容满足跳转条件时，对话将移交给另一个 </a:t>
            </a:r>
            <a:r>
              <a:rPr lang="en-US" altLang="zh-CN" dirty="0">
                <a:effectLst/>
              </a:rPr>
              <a:t>Agent </a:t>
            </a:r>
            <a:r>
              <a:rPr lang="zh-CN" altLang="en-US" dirty="0">
                <a:effectLst/>
              </a:rPr>
              <a:t>进行处理。多 </a:t>
            </a:r>
            <a:r>
              <a:rPr lang="en-US" altLang="zh-CN" dirty="0">
                <a:effectLst/>
              </a:rPr>
              <a:t>Agent </a:t>
            </a:r>
            <a:r>
              <a:rPr lang="zh-CN" altLang="en-US" dirty="0">
                <a:effectLst/>
              </a:rPr>
              <a:t>模式更适合处理复杂的任务。</a:t>
            </a:r>
          </a:p>
          <a:p>
            <a:endParaRPr lang="zh-CN" altLang="en-US" dirty="0"/>
          </a:p>
        </p:txBody>
      </p:sp>
    </p:spTree>
    <p:extLst>
      <p:ext uri="{BB962C8B-B14F-4D97-AF65-F5344CB8AC3E}">
        <p14:creationId xmlns:p14="http://schemas.microsoft.com/office/powerpoint/2010/main" val="2320575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57BA31-757E-A6E5-6251-24F2E76459F1}"/>
              </a:ext>
            </a:extLst>
          </p:cNvPr>
          <p:cNvSpPr>
            <a:spLocks noGrp="1"/>
          </p:cNvSpPr>
          <p:nvPr>
            <p:ph type="title"/>
          </p:nvPr>
        </p:nvSpPr>
        <p:spPr/>
        <p:txBody>
          <a:bodyPr/>
          <a:lstStyle/>
          <a:p>
            <a:pPr algn="ctr"/>
            <a:r>
              <a:rPr lang="en-US" altLang="zh-CN" dirty="0"/>
              <a:t>Agent</a:t>
            </a:r>
            <a:r>
              <a:rPr lang="zh-CN" altLang="en-US" dirty="0"/>
              <a:t>商业应用</a:t>
            </a:r>
          </a:p>
        </p:txBody>
      </p:sp>
      <p:pic>
        <p:nvPicPr>
          <p:cNvPr id="5" name="图片 4">
            <a:extLst>
              <a:ext uri="{FF2B5EF4-FFF2-40B4-BE49-F238E27FC236}">
                <a16:creationId xmlns:a16="http://schemas.microsoft.com/office/drawing/2014/main" id="{065895EB-CC11-DEA3-BB91-2B5F36A7B3EC}"/>
              </a:ext>
            </a:extLst>
          </p:cNvPr>
          <p:cNvPicPr>
            <a:picLocks noChangeAspect="1"/>
          </p:cNvPicPr>
          <p:nvPr/>
        </p:nvPicPr>
        <p:blipFill>
          <a:blip r:embed="rId2"/>
          <a:stretch>
            <a:fillRect/>
          </a:stretch>
        </p:blipFill>
        <p:spPr>
          <a:xfrm>
            <a:off x="622875" y="1375315"/>
            <a:ext cx="5624152" cy="5259659"/>
          </a:xfrm>
          <a:prstGeom prst="rect">
            <a:avLst/>
          </a:prstGeom>
        </p:spPr>
      </p:pic>
      <p:pic>
        <p:nvPicPr>
          <p:cNvPr id="7" name="图片 6">
            <a:extLst>
              <a:ext uri="{FF2B5EF4-FFF2-40B4-BE49-F238E27FC236}">
                <a16:creationId xmlns:a16="http://schemas.microsoft.com/office/drawing/2014/main" id="{E4BCB42C-72BF-424C-93BF-726179D56E58}"/>
              </a:ext>
            </a:extLst>
          </p:cNvPr>
          <p:cNvPicPr>
            <a:picLocks noChangeAspect="1"/>
          </p:cNvPicPr>
          <p:nvPr/>
        </p:nvPicPr>
        <p:blipFill>
          <a:blip r:embed="rId3"/>
          <a:stretch>
            <a:fillRect/>
          </a:stretch>
        </p:blipFill>
        <p:spPr>
          <a:xfrm>
            <a:off x="6247027" y="1427354"/>
            <a:ext cx="6492822" cy="5856358"/>
          </a:xfrm>
          <a:prstGeom prst="rect">
            <a:avLst/>
          </a:prstGeom>
        </p:spPr>
      </p:pic>
    </p:spTree>
    <p:extLst>
      <p:ext uri="{BB962C8B-B14F-4D97-AF65-F5344CB8AC3E}">
        <p14:creationId xmlns:p14="http://schemas.microsoft.com/office/powerpoint/2010/main" val="2060162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D4212F-84C5-8080-8CFD-59147D32EB19}"/>
              </a:ext>
            </a:extLst>
          </p:cNvPr>
          <p:cNvSpPr>
            <a:spLocks noGrp="1"/>
          </p:cNvSpPr>
          <p:nvPr>
            <p:ph type="title"/>
          </p:nvPr>
        </p:nvSpPr>
        <p:spPr/>
        <p:txBody>
          <a:bodyPr/>
          <a:lstStyle/>
          <a:p>
            <a:r>
              <a:rPr lang="zh-CN" altLang="en-US" dirty="0"/>
              <a:t>一、信息服务提供商</a:t>
            </a:r>
          </a:p>
        </p:txBody>
      </p:sp>
      <p:sp>
        <p:nvSpPr>
          <p:cNvPr id="3" name="内容占位符 2">
            <a:extLst>
              <a:ext uri="{FF2B5EF4-FFF2-40B4-BE49-F238E27FC236}">
                <a16:creationId xmlns:a16="http://schemas.microsoft.com/office/drawing/2014/main" id="{60082966-9A55-1E7C-A11D-8607CC3CE2FE}"/>
              </a:ext>
            </a:extLst>
          </p:cNvPr>
          <p:cNvSpPr>
            <a:spLocks noGrp="1"/>
          </p:cNvSpPr>
          <p:nvPr>
            <p:ph idx="1"/>
          </p:nvPr>
        </p:nvSpPr>
        <p:spPr/>
        <p:txBody>
          <a:bodyPr/>
          <a:lstStyle/>
          <a:p>
            <a:r>
              <a:rPr lang="zh-CN" altLang="en-US" b="0" i="0" dirty="0">
                <a:effectLst/>
                <a:latin typeface="PingFang SC"/>
              </a:rPr>
              <a:t>智能体可以作为一种信息媒介向服务用户提供信息支持，在使用方面类似微信小程序，但智能体可以提供更强的交互体验如文档、图片的理解和生成等等，以及更强的插件支持。从而免去繁琐的安装过程并更好地理解用户意图</a:t>
            </a:r>
            <a:endParaRPr lang="en-US" altLang="zh-CN" b="0" i="0" dirty="0">
              <a:effectLst/>
              <a:latin typeface="PingFang SC"/>
            </a:endParaRPr>
          </a:p>
          <a:p>
            <a:endParaRPr lang="en-US" altLang="zh-CN" dirty="0">
              <a:latin typeface="PingFang SC"/>
            </a:endParaRPr>
          </a:p>
          <a:p>
            <a:r>
              <a:rPr lang="zh-CN" altLang="en-US" dirty="0">
                <a:latin typeface="PingFang SC"/>
              </a:rPr>
              <a:t>如携程、懂车帝、华泰证券等信息服务提供商纷纷在文心平台中创建了自身品牌智能体</a:t>
            </a:r>
            <a:endParaRPr lang="zh-CN" altLang="en-US" dirty="0"/>
          </a:p>
        </p:txBody>
      </p:sp>
    </p:spTree>
    <p:extLst>
      <p:ext uri="{BB962C8B-B14F-4D97-AF65-F5344CB8AC3E}">
        <p14:creationId xmlns:p14="http://schemas.microsoft.com/office/powerpoint/2010/main" val="2494505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A7606-6D3E-65C0-82F5-E949762C94AC}"/>
              </a:ext>
            </a:extLst>
          </p:cNvPr>
          <p:cNvSpPr>
            <a:spLocks noGrp="1"/>
          </p:cNvSpPr>
          <p:nvPr>
            <p:ph type="title"/>
          </p:nvPr>
        </p:nvSpPr>
        <p:spPr/>
        <p:txBody>
          <a:bodyPr/>
          <a:lstStyle/>
          <a:p>
            <a:r>
              <a:rPr lang="zh-CN" altLang="en-US" dirty="0"/>
              <a:t>二、商品挂载</a:t>
            </a:r>
          </a:p>
        </p:txBody>
      </p:sp>
      <p:sp>
        <p:nvSpPr>
          <p:cNvPr id="3" name="内容占位符 2">
            <a:extLst>
              <a:ext uri="{FF2B5EF4-FFF2-40B4-BE49-F238E27FC236}">
                <a16:creationId xmlns:a16="http://schemas.microsoft.com/office/drawing/2014/main" id="{507F485E-0AB8-D413-9E46-FCEE15378F73}"/>
              </a:ext>
            </a:extLst>
          </p:cNvPr>
          <p:cNvSpPr>
            <a:spLocks noGrp="1"/>
          </p:cNvSpPr>
          <p:nvPr>
            <p:ph idx="1"/>
          </p:nvPr>
        </p:nvSpPr>
        <p:spPr/>
        <p:txBody>
          <a:bodyPr/>
          <a:lstStyle/>
          <a:p>
            <a:r>
              <a:rPr lang="zh-CN" altLang="en-US" b="0" i="0" dirty="0">
                <a:effectLst/>
                <a:latin typeface="PingFang SC"/>
              </a:rPr>
              <a:t>选择与智能体设定相符的商品完成商品挂载，</a:t>
            </a:r>
            <a:r>
              <a:rPr lang="zh-CN" altLang="en-US" b="0" i="0" dirty="0">
                <a:solidFill>
                  <a:srgbClr val="1070F1"/>
                </a:solidFill>
                <a:effectLst/>
                <a:latin typeface="PingFang SC"/>
              </a:rPr>
              <a:t>模型会根据用户问题与商品的相关性，通过理解、判断是否召回、展现。</a:t>
            </a:r>
            <a:r>
              <a:rPr lang="zh-CN" altLang="en-US" b="0" i="0" dirty="0">
                <a:effectLst/>
                <a:latin typeface="PingFang SC"/>
              </a:rPr>
              <a:t>商品相关性主要通过名称、行业分类等信息来识别判断。如果出卡率不及预期，可通过调优</a:t>
            </a:r>
            <a:r>
              <a:rPr lang="en-US" altLang="zh-CN" b="0" i="0" dirty="0">
                <a:effectLst/>
                <a:latin typeface="PingFang SC"/>
              </a:rPr>
              <a:t>prompt</a:t>
            </a:r>
            <a:r>
              <a:rPr lang="zh-CN" altLang="en-US" b="0" i="0" dirty="0">
                <a:effectLst/>
                <a:latin typeface="PingFang SC"/>
              </a:rPr>
              <a:t>的方式来校准智能体的回答结果。</a:t>
            </a:r>
            <a:endParaRPr lang="zh-CN" altLang="en-US" dirty="0"/>
          </a:p>
        </p:txBody>
      </p:sp>
      <p:sp>
        <p:nvSpPr>
          <p:cNvPr id="4" name="AutoShape 2" descr="图片">
            <a:extLst>
              <a:ext uri="{FF2B5EF4-FFF2-40B4-BE49-F238E27FC236}">
                <a16:creationId xmlns:a16="http://schemas.microsoft.com/office/drawing/2014/main" id="{ECA8D312-C124-4448-2D40-5170BC97DF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图片 5">
            <a:extLst>
              <a:ext uri="{FF2B5EF4-FFF2-40B4-BE49-F238E27FC236}">
                <a16:creationId xmlns:a16="http://schemas.microsoft.com/office/drawing/2014/main" id="{1016D824-028E-F293-D36D-F78863DDCF77}"/>
              </a:ext>
            </a:extLst>
          </p:cNvPr>
          <p:cNvPicPr>
            <a:picLocks noChangeAspect="1"/>
          </p:cNvPicPr>
          <p:nvPr/>
        </p:nvPicPr>
        <p:blipFill>
          <a:blip r:embed="rId2"/>
          <a:stretch>
            <a:fillRect/>
          </a:stretch>
        </p:blipFill>
        <p:spPr>
          <a:xfrm>
            <a:off x="3297044" y="3581400"/>
            <a:ext cx="5597912" cy="3091155"/>
          </a:xfrm>
          <a:prstGeom prst="rect">
            <a:avLst/>
          </a:prstGeom>
        </p:spPr>
      </p:pic>
    </p:spTree>
    <p:extLst>
      <p:ext uri="{BB962C8B-B14F-4D97-AF65-F5344CB8AC3E}">
        <p14:creationId xmlns:p14="http://schemas.microsoft.com/office/powerpoint/2010/main" val="2684220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B805AF-7662-BBD1-17B0-7CD7CE0F2109}"/>
              </a:ext>
            </a:extLst>
          </p:cNvPr>
          <p:cNvSpPr>
            <a:spLocks noGrp="1"/>
          </p:cNvSpPr>
          <p:nvPr>
            <p:ph type="title"/>
          </p:nvPr>
        </p:nvSpPr>
        <p:spPr/>
        <p:txBody>
          <a:bodyPr/>
          <a:lstStyle/>
          <a:p>
            <a:r>
              <a:rPr lang="zh-CN" altLang="en-US" dirty="0"/>
              <a:t>三、</a:t>
            </a:r>
            <a:r>
              <a:rPr lang="zh-CN" altLang="en-US" b="0" i="0" dirty="0">
                <a:solidFill>
                  <a:srgbClr val="000000"/>
                </a:solidFill>
                <a:effectLst/>
                <a:latin typeface="PingFang SC"/>
              </a:rPr>
              <a:t>线索转化</a:t>
            </a:r>
            <a:endParaRPr lang="zh-CN" altLang="en-US" dirty="0"/>
          </a:p>
        </p:txBody>
      </p:sp>
      <p:sp>
        <p:nvSpPr>
          <p:cNvPr id="3" name="内容占位符 2">
            <a:extLst>
              <a:ext uri="{FF2B5EF4-FFF2-40B4-BE49-F238E27FC236}">
                <a16:creationId xmlns:a16="http://schemas.microsoft.com/office/drawing/2014/main" id="{571C15A8-B5AF-2767-3791-53A4490DA8D6}"/>
              </a:ext>
            </a:extLst>
          </p:cNvPr>
          <p:cNvSpPr>
            <a:spLocks noGrp="1"/>
          </p:cNvSpPr>
          <p:nvPr>
            <p:ph idx="1"/>
          </p:nvPr>
        </p:nvSpPr>
        <p:spPr/>
        <p:txBody>
          <a:bodyPr/>
          <a:lstStyle/>
          <a:p>
            <a:r>
              <a:rPr lang="zh-CN" altLang="en-US" b="0" i="0" dirty="0">
                <a:solidFill>
                  <a:srgbClr val="50525C"/>
                </a:solidFill>
                <a:effectLst/>
                <a:latin typeface="PingFang SC"/>
              </a:rPr>
              <a:t> 通过智能体对话收集用户信息（如姓名、电话、邮箱等），便于后续跟进与服务，是获取潜在客户的重要手段。</a:t>
            </a:r>
            <a:r>
              <a:rPr lang="zh-CN" altLang="en-US" b="0" i="0" dirty="0">
                <a:solidFill>
                  <a:srgbClr val="333333"/>
                </a:solidFill>
                <a:effectLst/>
                <a:latin typeface="PingFang SC"/>
              </a:rPr>
              <a:t>使用场景包括咨询留资、报名登记、预约服务等。</a:t>
            </a:r>
            <a:endParaRPr lang="zh-CN" altLang="en-US" dirty="0"/>
          </a:p>
        </p:txBody>
      </p:sp>
      <p:pic>
        <p:nvPicPr>
          <p:cNvPr id="3076" name="Picture 4">
            <a:extLst>
              <a:ext uri="{FF2B5EF4-FFF2-40B4-BE49-F238E27FC236}">
                <a16:creationId xmlns:a16="http://schemas.microsoft.com/office/drawing/2014/main" id="{AAEF79EE-D07E-31F6-01B6-2F87C19A0D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3156" y="3164697"/>
            <a:ext cx="5090260" cy="3693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275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0BC37BE-C785-5279-F674-543ACF1CC80F}"/>
              </a:ext>
            </a:extLst>
          </p:cNvPr>
          <p:cNvSpPr txBox="1"/>
          <p:nvPr/>
        </p:nvSpPr>
        <p:spPr>
          <a:xfrm>
            <a:off x="0" y="70388"/>
            <a:ext cx="4483100" cy="6717223"/>
          </a:xfrm>
          <a:prstGeom prst="rect">
            <a:avLst/>
          </a:prstGeom>
          <a:noFill/>
        </p:spPr>
        <p:txBody>
          <a:bodyPr wrap="square" rtlCol="0">
            <a:spAutoFit/>
          </a:bodyPr>
          <a:lstStyle/>
          <a:p>
            <a:r>
              <a:rPr lang="zh-CN" altLang="en-US" sz="1050" dirty="0"/>
              <a:t>苏联解体对世界政治产生了极其深远的重大影响：</a:t>
            </a:r>
          </a:p>
          <a:p>
            <a:r>
              <a:rPr lang="zh-CN" altLang="en-US" sz="1050" dirty="0"/>
              <a:t>一、国际格局方面</a:t>
            </a:r>
          </a:p>
          <a:p>
            <a:r>
              <a:rPr lang="zh-CN" altLang="en-US" sz="1050" dirty="0"/>
              <a:t>两极格局瓦解</a:t>
            </a:r>
          </a:p>
          <a:p>
            <a:r>
              <a:rPr lang="zh-CN" altLang="en-US" sz="1050" dirty="0"/>
              <a:t>冷战结束：标志着以美苏为首的两极对峙格局彻底终结，世界进入了一个新的历史时期。国际关系中的紧张局势得到缓解，大国之间直接军事对抗的风险大大降低。</a:t>
            </a:r>
          </a:p>
          <a:p>
            <a:r>
              <a:rPr lang="zh-CN" altLang="en-US" sz="1050" dirty="0"/>
              <a:t>多极化趋势加速：苏联解体后，世界呈现出多极化发展趋势。美国成为唯一的超级大国，但欧盟、俄罗斯、中国、日本等国家和地区的实力和影响力也在不断上升，国际政治格局更加多元化。</a:t>
            </a:r>
          </a:p>
          <a:p>
            <a:r>
              <a:rPr lang="zh-CN" altLang="en-US" sz="1050" dirty="0"/>
              <a:t>二、地缘政治方面</a:t>
            </a:r>
          </a:p>
          <a:p>
            <a:r>
              <a:rPr lang="zh-CN" altLang="en-US" sz="1050" dirty="0"/>
              <a:t>地缘政治重组</a:t>
            </a:r>
          </a:p>
          <a:p>
            <a:r>
              <a:rPr lang="zh-CN" altLang="en-US" sz="1050" dirty="0"/>
              <a:t>东欧剧变：苏联解体引发了东欧各国的政治变革，许多东欧国家纷纷转向西方，加入北约和欧盟，改变了欧洲的地缘政治格局。</a:t>
            </a:r>
          </a:p>
          <a:p>
            <a:r>
              <a:rPr lang="zh-CN" altLang="en-US" sz="1050" dirty="0"/>
              <a:t>中亚地区：苏联解体后，中亚各国独立，成为新的地缘政治焦点。该地区拥有丰富的能源资源和重要的战略地位，吸引了世界各国的关注。</a:t>
            </a:r>
          </a:p>
          <a:p>
            <a:r>
              <a:rPr lang="zh-CN" altLang="en-US" sz="1050" dirty="0"/>
              <a:t>中东地区：苏联在中东地区的影响力减弱，美国等西方国家在该地区的影响力进一步扩大，导致中东地区的政治局势更加复杂多变。</a:t>
            </a:r>
          </a:p>
          <a:p>
            <a:r>
              <a:rPr lang="zh-CN" altLang="en-US" sz="1050" dirty="0"/>
              <a:t>三、国际关系方面</a:t>
            </a:r>
          </a:p>
          <a:p>
            <a:r>
              <a:rPr lang="zh-CN" altLang="en-US" sz="1050" dirty="0"/>
              <a:t>国际关系调整</a:t>
            </a:r>
          </a:p>
          <a:p>
            <a:r>
              <a:rPr lang="zh-CN" altLang="en-US" sz="1050" dirty="0"/>
              <a:t>大国关系重塑：美国与俄罗斯、中国等大国的关系需要重新调整。美俄关系在苏联解体初期经历了一段复杂的时期，既有合作也有冲突。中美关系也在新的国际形势下不断发展和变化。</a:t>
            </a:r>
          </a:p>
          <a:p>
            <a:r>
              <a:rPr lang="zh-CN" altLang="en-US" sz="1050" dirty="0"/>
              <a:t>国际合作与竞争：苏联解体后，各国在经济、政治、安全等领域的合作与竞争更加复杂。国际组织如联合国、世界贸易组织等在协调国际关系、解决国际问题方面发挥着越来越重要的作用。</a:t>
            </a:r>
          </a:p>
          <a:p>
            <a:r>
              <a:rPr lang="zh-CN" altLang="en-US" sz="1050" dirty="0"/>
              <a:t>四、意识形态方面</a:t>
            </a:r>
          </a:p>
          <a:p>
            <a:r>
              <a:rPr lang="zh-CN" altLang="en-US" sz="1050" dirty="0"/>
              <a:t>意识形态多元化</a:t>
            </a:r>
          </a:p>
          <a:p>
            <a:r>
              <a:rPr lang="zh-CN" altLang="en-US" sz="1050" dirty="0"/>
              <a:t>共产主义运动受挫：苏联解体对国际共产主义运动产生了重大打击，共产主义意识形态在世界范围内面临巨大挑战。但这也促使人们对社会主义和共产主义进行更加深入的思考和探索。</a:t>
            </a:r>
          </a:p>
          <a:p>
            <a:r>
              <a:rPr lang="zh-CN" altLang="en-US" sz="1050" dirty="0"/>
              <a:t>西方价值观扩张：苏联解体后，西方价值观在一定程度上得到扩张，民主、自由、人权等理念被一些国家作为对外政策的工具，推行价值观外交。但同时，也有越来越多的国家开始反思西方价值观的局限性，强调文化多样性和国家主权。</a:t>
            </a:r>
          </a:p>
          <a:p>
            <a:r>
              <a:rPr lang="zh-CN" altLang="en-US" sz="1050" dirty="0"/>
              <a:t>五、安全格局方面</a:t>
            </a:r>
          </a:p>
          <a:p>
            <a:r>
              <a:rPr lang="zh-CN" altLang="en-US" sz="1050" dirty="0"/>
              <a:t>安全挑战增多</a:t>
            </a:r>
          </a:p>
          <a:p>
            <a:r>
              <a:rPr lang="zh-CN" altLang="en-US" sz="1050" dirty="0"/>
              <a:t>核武器扩散风险：苏联解体后，其庞大的核武库成为国际社会关注的焦点。核武器扩散的风险增加，对世界安全构成了严重威胁。</a:t>
            </a:r>
          </a:p>
          <a:p>
            <a:r>
              <a:rPr lang="zh-CN" altLang="en-US" sz="1050" dirty="0"/>
              <a:t>地区冲突加剧：苏联解体后，一些地区出现了民族矛盾、领土争端等问题，导致地区冲突不断。例如，在高加索地区、巴尔干地区等地，冲突频繁发生，给当地人民带来了巨大的痛苦。</a:t>
            </a:r>
            <a:r>
              <a:rPr lang="zh-CN" altLang="en-US" sz="1050" b="1" dirty="0">
                <a:solidFill>
                  <a:srgbClr val="FF0000"/>
                </a:solidFill>
              </a:rPr>
              <a:t>（</a:t>
            </a:r>
            <a:r>
              <a:rPr lang="en-US" altLang="zh-CN" sz="1050" b="1" dirty="0">
                <a:solidFill>
                  <a:srgbClr val="FF0000"/>
                </a:solidFill>
              </a:rPr>
              <a:t>coze</a:t>
            </a:r>
            <a:r>
              <a:rPr lang="zh-CN" altLang="en-US" sz="1050" b="1" dirty="0">
                <a:solidFill>
                  <a:srgbClr val="FF0000"/>
                </a:solidFill>
              </a:rPr>
              <a:t>生成）</a:t>
            </a:r>
          </a:p>
        </p:txBody>
      </p:sp>
      <p:sp>
        <p:nvSpPr>
          <p:cNvPr id="7" name="矩形 6">
            <a:extLst>
              <a:ext uri="{FF2B5EF4-FFF2-40B4-BE49-F238E27FC236}">
                <a16:creationId xmlns:a16="http://schemas.microsoft.com/office/drawing/2014/main" id="{4D608B45-370C-15E1-7026-7DB3419EF4B9}"/>
              </a:ext>
            </a:extLst>
          </p:cNvPr>
          <p:cNvSpPr/>
          <p:nvPr/>
        </p:nvSpPr>
        <p:spPr>
          <a:xfrm>
            <a:off x="1520220" y="2687935"/>
            <a:ext cx="1569660" cy="923330"/>
          </a:xfrm>
          <a:prstGeom prst="rect">
            <a:avLst/>
          </a:prstGeom>
          <a:noFill/>
        </p:spPr>
        <p:txBody>
          <a:bodyPr wrap="none" lIns="91440" tIns="45720" rIns="91440" bIns="45720">
            <a:spAutoFit/>
          </a:bodyPr>
          <a:lstStyle/>
          <a:p>
            <a:pPr algn="ctr"/>
            <a:r>
              <a:rPr lang="zh-CN" altLang="en-US" sz="5400" b="0" cap="none" spc="0" dirty="0">
                <a:ln w="0"/>
                <a:solidFill>
                  <a:schemeClr val="accent1"/>
                </a:solidFill>
                <a:effectLst>
                  <a:outerShdw blurRad="38100" dist="25400" dir="5400000" algn="ctr" rotWithShape="0">
                    <a:srgbClr val="6E747A">
                      <a:alpha val="43000"/>
                    </a:srgbClr>
                  </a:outerShdw>
                </a:effectLst>
              </a:rPr>
              <a:t>担忧</a:t>
            </a:r>
          </a:p>
        </p:txBody>
      </p:sp>
      <p:sp>
        <p:nvSpPr>
          <p:cNvPr id="8" name="文本框 7">
            <a:extLst>
              <a:ext uri="{FF2B5EF4-FFF2-40B4-BE49-F238E27FC236}">
                <a16:creationId xmlns:a16="http://schemas.microsoft.com/office/drawing/2014/main" id="{31879D46-9DF9-764D-A004-EF7C009760B6}"/>
              </a:ext>
            </a:extLst>
          </p:cNvPr>
          <p:cNvSpPr txBox="1"/>
          <p:nvPr/>
        </p:nvSpPr>
        <p:spPr>
          <a:xfrm>
            <a:off x="4483100" y="70388"/>
            <a:ext cx="4483100" cy="4939814"/>
          </a:xfrm>
          <a:prstGeom prst="rect">
            <a:avLst/>
          </a:prstGeom>
          <a:noFill/>
        </p:spPr>
        <p:txBody>
          <a:bodyPr wrap="square" rtlCol="0">
            <a:spAutoFit/>
          </a:bodyPr>
          <a:lstStyle/>
          <a:p>
            <a:pPr algn="just"/>
            <a:r>
              <a:rPr lang="zh-CN" altLang="en-US" sz="1050" b="0" i="0" dirty="0">
                <a:solidFill>
                  <a:srgbClr val="333333"/>
                </a:solidFill>
                <a:effectLst/>
                <a:latin typeface="-apple-system"/>
              </a:rPr>
              <a:t>苏联的解体无疑是</a:t>
            </a:r>
            <a:r>
              <a:rPr lang="en-US" altLang="zh-CN" sz="1050" b="0" i="0" dirty="0">
                <a:solidFill>
                  <a:srgbClr val="333333"/>
                </a:solidFill>
                <a:effectLst/>
                <a:latin typeface="-apple-system"/>
              </a:rPr>
              <a:t>20</a:t>
            </a:r>
            <a:r>
              <a:rPr lang="zh-CN" altLang="en-US" sz="1050" b="0" i="0" dirty="0">
                <a:solidFill>
                  <a:srgbClr val="333333"/>
                </a:solidFill>
                <a:effectLst/>
                <a:latin typeface="-apple-system"/>
              </a:rPr>
              <a:t>世纪末国际政治中最引人注目、影响最重大的事件之一，它对世界政治产生了深远的影响。以下是我对苏联解体对世界政治影响的几点分析：</a:t>
            </a:r>
          </a:p>
          <a:p>
            <a:pPr algn="just"/>
            <a:r>
              <a:rPr lang="zh-CN" altLang="en-US" sz="1050" b="0" i="0" dirty="0">
                <a:solidFill>
                  <a:srgbClr val="333333"/>
                </a:solidFill>
                <a:effectLst/>
                <a:latin typeface="-apple-system"/>
              </a:rPr>
              <a:t>首先，苏联解体结束了战后四十多年的两极格局，即美苏对峙的冷战格局。这一变化使得整个世界加速走向一个多极化的新格局。多极化趋势的出现，意味着国际关系中不再存在两个超级大国主宰一切的局面，而是更多的国家开始在国际舞台上发挥重要作用，这有助于促进世界的和平与稳定。</a:t>
            </a:r>
          </a:p>
          <a:p>
            <a:pPr algn="just"/>
            <a:r>
              <a:rPr lang="zh-CN" altLang="en-US" sz="1050" b="0" i="0" dirty="0">
                <a:solidFill>
                  <a:srgbClr val="333333"/>
                </a:solidFill>
                <a:effectLst/>
                <a:latin typeface="-apple-system"/>
              </a:rPr>
              <a:t>其次，苏联解体推动了欧洲一体化的进程。随着苏联这一欧洲重要政治力量的消失，东西欧之间的对峙也随之结束，这为欧洲联合提供了更为有利的条件。欧盟的扩大和北约的东扩，都是苏联解体后欧洲一体化加速发展的具体表现。这些变化不仅增强了欧洲的经济实力，也提升了欧洲在国际事务中的话语权和影响力。</a:t>
            </a:r>
          </a:p>
          <a:p>
            <a:pPr algn="just"/>
            <a:r>
              <a:rPr lang="zh-CN" altLang="en-US" sz="1050" b="0" i="0" dirty="0">
                <a:solidFill>
                  <a:srgbClr val="333333"/>
                </a:solidFill>
                <a:effectLst/>
                <a:latin typeface="-apple-system"/>
              </a:rPr>
              <a:t>再者，苏联解体对西方国家内部的凝聚力产生了一定影响。在冷战期间，西方国家为了共同对抗苏联的威胁，形成了较为紧密的联盟关系。然而，随着苏联的解体，这种共同的外部威胁不复存在，西方国家之间的矛盾和分歧开始逐渐显现。特别是美、欧、日之间的矛盾和贸易摩擦愈演愈烈，这对西方世界的稳定和发展带来了一定的挑战。</a:t>
            </a:r>
          </a:p>
          <a:p>
            <a:pPr algn="just"/>
            <a:r>
              <a:rPr lang="zh-CN" altLang="en-US" sz="1050" b="0" i="0" dirty="0">
                <a:solidFill>
                  <a:srgbClr val="333333"/>
                </a:solidFill>
                <a:effectLst/>
                <a:latin typeface="-apple-system"/>
              </a:rPr>
              <a:t>此外，苏联解体还使得第三世界的战略地位明显下降。在冷战期间，第三世界国家作为美苏两大阵营之间的中间地带，具有重要的战略地位。然而，随着苏联的解体，中间地带开始与西方资本主义国家直接对阵，受西方国家干涉和控制的危险加大。这使得第三世界国家在国际事务中的处境更为艰难，也加剧了南北矛盾和发展问题。</a:t>
            </a:r>
          </a:p>
          <a:p>
            <a:pPr algn="just"/>
            <a:r>
              <a:rPr lang="zh-CN" altLang="en-US" sz="1050" b="0" i="0" dirty="0">
                <a:solidFill>
                  <a:srgbClr val="333333"/>
                </a:solidFill>
                <a:effectLst/>
                <a:latin typeface="-apple-system"/>
              </a:rPr>
              <a:t>最后，需要指出的是，苏联的解体虽然是国际共产主义运动和世界社会主义运动的一次重大挫折，但它也推动了不少社会主义国家进一步思考和改革。这些国家开始反思苏联模式的弊端，探索适合本国国情的发展道路。这对于社会主义运动的未来发展具有重要的启示意义。</a:t>
            </a:r>
          </a:p>
          <a:p>
            <a:pPr algn="just"/>
            <a:r>
              <a:rPr lang="zh-CN" altLang="en-US" sz="1050" b="0" i="0" dirty="0">
                <a:solidFill>
                  <a:srgbClr val="333333"/>
                </a:solidFill>
                <a:effectLst/>
                <a:latin typeface="-apple-system"/>
              </a:rPr>
              <a:t>综上所述，苏联解体对世界政治产生了深远的影响，它不仅改变了国际政治格局，也推动了欧洲一体化的进程，并对西方国家内部的凝聚力和第三世界的战略地位产生了重要影响。同时，苏联的解体也为社会主义国家提供了反思和改革的机会。</a:t>
            </a:r>
            <a:r>
              <a:rPr lang="zh-CN" altLang="en-US" sz="1050" b="1" i="0" dirty="0">
                <a:solidFill>
                  <a:srgbClr val="FF0000"/>
                </a:solidFill>
                <a:effectLst/>
                <a:latin typeface="-apple-system"/>
              </a:rPr>
              <a:t>（文心生成）</a:t>
            </a:r>
          </a:p>
        </p:txBody>
      </p:sp>
      <p:sp>
        <p:nvSpPr>
          <p:cNvPr id="9" name="矩形 8">
            <a:extLst>
              <a:ext uri="{FF2B5EF4-FFF2-40B4-BE49-F238E27FC236}">
                <a16:creationId xmlns:a16="http://schemas.microsoft.com/office/drawing/2014/main" id="{1AD7CBFA-91B4-426B-B1D0-58E4C62EDC6D}"/>
              </a:ext>
            </a:extLst>
          </p:cNvPr>
          <p:cNvSpPr/>
          <p:nvPr/>
        </p:nvSpPr>
        <p:spPr>
          <a:xfrm>
            <a:off x="5867402" y="1265535"/>
            <a:ext cx="1569660" cy="923330"/>
          </a:xfrm>
          <a:prstGeom prst="rect">
            <a:avLst/>
          </a:prstGeom>
          <a:noFill/>
        </p:spPr>
        <p:txBody>
          <a:bodyPr wrap="none" lIns="91440" tIns="45720" rIns="91440" bIns="45720">
            <a:spAutoFit/>
          </a:bodyPr>
          <a:lstStyle/>
          <a:p>
            <a:pPr algn="ctr"/>
            <a:r>
              <a:rPr lang="zh-CN" altLang="en-US" sz="5400" dirty="0">
                <a:ln w="0"/>
                <a:solidFill>
                  <a:schemeClr val="accent1"/>
                </a:solidFill>
                <a:effectLst>
                  <a:outerShdw blurRad="38100" dist="25400" dir="5400000" algn="ctr" rotWithShape="0">
                    <a:srgbClr val="6E747A">
                      <a:alpha val="43000"/>
                    </a:srgbClr>
                  </a:outerShdw>
                </a:effectLst>
              </a:rPr>
              <a:t>积极</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10" name="文本框 9">
            <a:extLst>
              <a:ext uri="{FF2B5EF4-FFF2-40B4-BE49-F238E27FC236}">
                <a16:creationId xmlns:a16="http://schemas.microsoft.com/office/drawing/2014/main" id="{673E3B33-66FC-273C-34DA-CBC91957627F}"/>
              </a:ext>
            </a:extLst>
          </p:cNvPr>
          <p:cNvSpPr txBox="1"/>
          <p:nvPr/>
        </p:nvSpPr>
        <p:spPr>
          <a:xfrm>
            <a:off x="8966200" y="234950"/>
            <a:ext cx="3517900" cy="6601807"/>
          </a:xfrm>
          <a:prstGeom prst="rect">
            <a:avLst/>
          </a:prstGeom>
          <a:noFill/>
        </p:spPr>
        <p:txBody>
          <a:bodyPr wrap="square" rtlCol="0">
            <a:spAutoFit/>
          </a:bodyPr>
          <a:lstStyle/>
          <a:p>
            <a:pPr algn="l">
              <a:spcAft>
                <a:spcPts val="1200"/>
              </a:spcAft>
            </a:pPr>
            <a:r>
              <a:rPr lang="zh-CN" altLang="en-US" sz="1050" b="0" i="0" dirty="0">
                <a:solidFill>
                  <a:srgbClr val="1A2029"/>
                </a:solidFill>
                <a:effectLst/>
                <a:latin typeface="-apple-system"/>
              </a:rPr>
              <a:t>苏联解体对世界政治产生了深远的影响，具体体现在以下几个方面：</a:t>
            </a:r>
          </a:p>
          <a:p>
            <a:pPr algn="l">
              <a:spcBef>
                <a:spcPts val="1200"/>
              </a:spcBef>
              <a:spcAft>
                <a:spcPts val="1200"/>
              </a:spcAft>
              <a:buFont typeface="+mj-lt"/>
              <a:buAutoNum type="arabicPeriod"/>
            </a:pPr>
            <a:r>
              <a:rPr lang="zh-CN" altLang="en-US" sz="1050" b="0" i="0" dirty="0">
                <a:solidFill>
                  <a:srgbClr val="1A2029"/>
                </a:solidFill>
                <a:effectLst/>
                <a:latin typeface="-apple-system"/>
              </a:rPr>
              <a:t>冷战的结束：苏联解体标志着冷战的结束，美国成为世界上唯一的超级大国。这导致了单极世界的形成，美国在全球政治、经济、军事等方面的影响力大幅提升。</a:t>
            </a:r>
          </a:p>
          <a:p>
            <a:pPr algn="l">
              <a:spcBef>
                <a:spcPts val="1200"/>
              </a:spcBef>
              <a:spcAft>
                <a:spcPts val="1200"/>
              </a:spcAft>
              <a:buFont typeface="+mj-lt"/>
              <a:buAutoNum type="arabicPeriod"/>
            </a:pPr>
            <a:r>
              <a:rPr lang="zh-CN" altLang="en-US" sz="1050" b="0" i="0" dirty="0">
                <a:solidFill>
                  <a:srgbClr val="1A2029"/>
                </a:solidFill>
                <a:effectLst/>
                <a:latin typeface="-apple-system"/>
              </a:rPr>
              <a:t>民主和市场经济理念的传播：苏联解体使得社会主义阵营国家纷纷转向民主和市场经济，这些国家开始进行政治体制和经济体制的改革。</a:t>
            </a:r>
          </a:p>
          <a:p>
            <a:pPr algn="l">
              <a:spcBef>
                <a:spcPts val="1200"/>
              </a:spcBef>
              <a:spcAft>
                <a:spcPts val="1200"/>
              </a:spcAft>
              <a:buFont typeface="+mj-lt"/>
              <a:buAutoNum type="arabicPeriod"/>
            </a:pPr>
            <a:r>
              <a:rPr lang="zh-CN" altLang="en-US" sz="1050" b="0" i="0" dirty="0">
                <a:solidFill>
                  <a:srgbClr val="1A2029"/>
                </a:solidFill>
                <a:effectLst/>
                <a:latin typeface="-apple-system"/>
              </a:rPr>
              <a:t>欧洲地缘政治格局的变化：苏联解体后，东欧国家摆脱了苏联的控制，纷纷加入欧盟和北约，使得欧洲地缘政治格局发生了重大变化。</a:t>
            </a:r>
          </a:p>
          <a:p>
            <a:pPr algn="l">
              <a:spcBef>
                <a:spcPts val="1200"/>
              </a:spcBef>
              <a:spcAft>
                <a:spcPts val="1200"/>
              </a:spcAft>
              <a:buFont typeface="+mj-lt"/>
              <a:buAutoNum type="arabicPeriod"/>
            </a:pPr>
            <a:r>
              <a:rPr lang="zh-CN" altLang="en-US" sz="1050" b="0" i="0" dirty="0">
                <a:solidFill>
                  <a:srgbClr val="1A2029"/>
                </a:solidFill>
                <a:effectLst/>
                <a:latin typeface="-apple-system"/>
              </a:rPr>
              <a:t>俄罗斯的国际地位：苏联解体后，俄罗斯继承了苏联的主要遗产，但其国际地位和影响力大幅下滑。俄罗斯在一段时间内努力寻求融入西方世界，但后来由于多种原因，与西方国家的关系逐渐紧张。</a:t>
            </a:r>
          </a:p>
          <a:p>
            <a:pPr algn="l">
              <a:spcBef>
                <a:spcPts val="1200"/>
              </a:spcBef>
              <a:spcAft>
                <a:spcPts val="1200"/>
              </a:spcAft>
              <a:buFont typeface="+mj-lt"/>
              <a:buAutoNum type="arabicPeriod"/>
            </a:pPr>
            <a:r>
              <a:rPr lang="zh-CN" altLang="en-US" sz="1050" b="0" i="0" dirty="0">
                <a:solidFill>
                  <a:srgbClr val="1A2029"/>
                </a:solidFill>
                <a:effectLst/>
                <a:latin typeface="-apple-system"/>
              </a:rPr>
              <a:t>核武器扩散问题：苏联解体后，部分核武器和核技术可能落入非国家行为体手中，导致核武器扩散的风险增加。</a:t>
            </a:r>
          </a:p>
          <a:p>
            <a:pPr algn="l">
              <a:spcBef>
                <a:spcPts val="1200"/>
              </a:spcBef>
              <a:spcAft>
                <a:spcPts val="1200"/>
              </a:spcAft>
              <a:buFont typeface="+mj-lt"/>
              <a:buAutoNum type="arabicPeriod"/>
            </a:pPr>
            <a:r>
              <a:rPr lang="zh-CN" altLang="en-US" sz="1050" b="0" i="0" dirty="0">
                <a:solidFill>
                  <a:srgbClr val="1A2029"/>
                </a:solidFill>
                <a:effectLst/>
                <a:latin typeface="-apple-system"/>
              </a:rPr>
              <a:t>民族主义和分离主义势力抬头：苏联解体过程中，民族主义和分离主义势力在一些国家和地区抬头，导致地区冲突和战争，如南斯拉夫内战、车臣战争等。</a:t>
            </a:r>
          </a:p>
          <a:p>
            <a:pPr algn="l">
              <a:spcBef>
                <a:spcPts val="1200"/>
              </a:spcBef>
              <a:spcAft>
                <a:spcPts val="1200"/>
              </a:spcAft>
              <a:buFont typeface="+mj-lt"/>
              <a:buAutoNum type="arabicPeriod"/>
            </a:pPr>
            <a:r>
              <a:rPr lang="zh-CN" altLang="en-US" sz="1050" b="0" i="0" dirty="0">
                <a:solidFill>
                  <a:srgbClr val="1A2029"/>
                </a:solidFill>
                <a:effectLst/>
                <a:latin typeface="-apple-system"/>
              </a:rPr>
              <a:t>中国的崛起：苏联解体使得美国在一定程度上忽视了中国的崛起。随着中国经济的快速发展，中国逐渐成为世界政治舞台上的重要力量，对全球政治格局产生重要影响。</a:t>
            </a:r>
          </a:p>
          <a:p>
            <a:pPr algn="l"/>
            <a:r>
              <a:rPr lang="zh-CN" altLang="en-US" sz="1050" b="0" i="0" dirty="0">
                <a:solidFill>
                  <a:srgbClr val="1A2029"/>
                </a:solidFill>
                <a:effectLst/>
                <a:latin typeface="-apple-system"/>
              </a:rPr>
              <a:t>总之，苏联解体对世界政治产生了广泛而深远的影响，不仅改变了国际政治力量的对比，还对国际政治理念、地缘政治格局等方面产生了重要影响。</a:t>
            </a:r>
            <a:r>
              <a:rPr lang="zh-CN" altLang="en-US" sz="1050" b="1" i="0" dirty="0">
                <a:solidFill>
                  <a:srgbClr val="FF0000"/>
                </a:solidFill>
                <a:effectLst/>
                <a:latin typeface="-apple-system"/>
              </a:rPr>
              <a:t>（</a:t>
            </a:r>
            <a:r>
              <a:rPr lang="en-US" altLang="zh-CN" sz="1050" b="1" i="0" dirty="0">
                <a:solidFill>
                  <a:srgbClr val="FF0000"/>
                </a:solidFill>
                <a:effectLst/>
                <a:latin typeface="-apple-system"/>
              </a:rPr>
              <a:t>GLM4</a:t>
            </a:r>
            <a:r>
              <a:rPr lang="zh-CN" altLang="en-US" sz="1050" b="1" i="0" dirty="0">
                <a:solidFill>
                  <a:srgbClr val="FF0000"/>
                </a:solidFill>
                <a:effectLst/>
                <a:latin typeface="-apple-system"/>
              </a:rPr>
              <a:t>生成）</a:t>
            </a:r>
          </a:p>
        </p:txBody>
      </p:sp>
      <p:sp>
        <p:nvSpPr>
          <p:cNvPr id="11" name="矩形 10">
            <a:extLst>
              <a:ext uri="{FF2B5EF4-FFF2-40B4-BE49-F238E27FC236}">
                <a16:creationId xmlns:a16="http://schemas.microsoft.com/office/drawing/2014/main" id="{F8DE7813-8350-8392-2828-2A137B4F09DB}"/>
              </a:ext>
            </a:extLst>
          </p:cNvPr>
          <p:cNvSpPr/>
          <p:nvPr/>
        </p:nvSpPr>
        <p:spPr>
          <a:xfrm>
            <a:off x="10134603" y="2402185"/>
            <a:ext cx="1569660" cy="923330"/>
          </a:xfrm>
          <a:prstGeom prst="rect">
            <a:avLst/>
          </a:prstGeom>
          <a:noFill/>
        </p:spPr>
        <p:txBody>
          <a:bodyPr wrap="none" lIns="91440" tIns="45720" rIns="91440" bIns="45720">
            <a:spAutoFit/>
          </a:bodyPr>
          <a:lstStyle/>
          <a:p>
            <a:pPr algn="ctr"/>
            <a:r>
              <a:rPr lang="zh-CN" altLang="en-US" sz="5400" b="0" cap="none" spc="0" dirty="0">
                <a:ln w="0"/>
                <a:solidFill>
                  <a:schemeClr val="accent1"/>
                </a:solidFill>
                <a:effectLst>
                  <a:outerShdw blurRad="38100" dist="25400" dir="5400000" algn="ctr" rotWithShape="0">
                    <a:srgbClr val="6E747A">
                      <a:alpha val="43000"/>
                    </a:srgbClr>
                  </a:outerShdw>
                </a:effectLst>
              </a:rPr>
              <a:t>中立</a:t>
            </a:r>
          </a:p>
        </p:txBody>
      </p:sp>
    </p:spTree>
    <p:extLst>
      <p:ext uri="{BB962C8B-B14F-4D97-AF65-F5344CB8AC3E}">
        <p14:creationId xmlns:p14="http://schemas.microsoft.com/office/powerpoint/2010/main" val="3920924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7DE125B-3FB0-E64D-C9D2-12438AF97A11}"/>
              </a:ext>
            </a:extLst>
          </p:cNvPr>
          <p:cNvPicPr>
            <a:picLocks noChangeAspect="1"/>
          </p:cNvPicPr>
          <p:nvPr/>
        </p:nvPicPr>
        <p:blipFill>
          <a:blip r:embed="rId2"/>
          <a:stretch>
            <a:fillRect/>
          </a:stretch>
        </p:blipFill>
        <p:spPr>
          <a:xfrm>
            <a:off x="5979252" y="0"/>
            <a:ext cx="3521587" cy="3194302"/>
          </a:xfrm>
          <a:prstGeom prst="rect">
            <a:avLst/>
          </a:prstGeom>
        </p:spPr>
      </p:pic>
      <p:pic>
        <p:nvPicPr>
          <p:cNvPr id="7" name="图片 6">
            <a:extLst>
              <a:ext uri="{FF2B5EF4-FFF2-40B4-BE49-F238E27FC236}">
                <a16:creationId xmlns:a16="http://schemas.microsoft.com/office/drawing/2014/main" id="{2E081D49-FC52-9BC8-9983-1122F14D0165}"/>
              </a:ext>
            </a:extLst>
          </p:cNvPr>
          <p:cNvPicPr>
            <a:picLocks noChangeAspect="1"/>
          </p:cNvPicPr>
          <p:nvPr/>
        </p:nvPicPr>
        <p:blipFill>
          <a:blip r:embed="rId3"/>
          <a:stretch>
            <a:fillRect/>
          </a:stretch>
        </p:blipFill>
        <p:spPr>
          <a:xfrm>
            <a:off x="8172820" y="1966467"/>
            <a:ext cx="3250769" cy="2925066"/>
          </a:xfrm>
          <a:prstGeom prst="rect">
            <a:avLst/>
          </a:prstGeom>
        </p:spPr>
      </p:pic>
      <p:pic>
        <p:nvPicPr>
          <p:cNvPr id="9" name="图片 8">
            <a:extLst>
              <a:ext uri="{FF2B5EF4-FFF2-40B4-BE49-F238E27FC236}">
                <a16:creationId xmlns:a16="http://schemas.microsoft.com/office/drawing/2014/main" id="{4910AFE7-8AD0-F447-F18D-D6B6BC566D19}"/>
              </a:ext>
            </a:extLst>
          </p:cNvPr>
          <p:cNvPicPr>
            <a:picLocks noChangeAspect="1"/>
          </p:cNvPicPr>
          <p:nvPr/>
        </p:nvPicPr>
        <p:blipFill>
          <a:blip r:embed="rId4"/>
          <a:stretch>
            <a:fillRect/>
          </a:stretch>
        </p:blipFill>
        <p:spPr>
          <a:xfrm>
            <a:off x="5979252" y="3800066"/>
            <a:ext cx="2449700" cy="2502330"/>
          </a:xfrm>
          <a:prstGeom prst="rect">
            <a:avLst/>
          </a:prstGeom>
        </p:spPr>
      </p:pic>
      <p:cxnSp>
        <p:nvCxnSpPr>
          <p:cNvPr id="11" name="直接连接符 10">
            <a:extLst>
              <a:ext uri="{FF2B5EF4-FFF2-40B4-BE49-F238E27FC236}">
                <a16:creationId xmlns:a16="http://schemas.microsoft.com/office/drawing/2014/main" id="{8EA7CCBF-1476-BEDB-79AF-C39DAC5157D5}"/>
              </a:ext>
            </a:extLst>
          </p:cNvPr>
          <p:cNvCxnSpPr/>
          <p:nvPr/>
        </p:nvCxnSpPr>
        <p:spPr>
          <a:xfrm>
            <a:off x="5902712" y="0"/>
            <a:ext cx="76540" cy="6858000"/>
          </a:xfrm>
          <a:prstGeom prst="line">
            <a:avLst/>
          </a:prstGeom>
        </p:spPr>
        <p:style>
          <a:lnRef idx="1">
            <a:schemeClr val="accent5"/>
          </a:lnRef>
          <a:fillRef idx="0">
            <a:schemeClr val="accent5"/>
          </a:fillRef>
          <a:effectRef idx="0">
            <a:schemeClr val="accent5"/>
          </a:effectRef>
          <a:fontRef idx="minor">
            <a:schemeClr val="tx1"/>
          </a:fontRef>
        </p:style>
      </p:cxnSp>
      <p:pic>
        <p:nvPicPr>
          <p:cNvPr id="13" name="图片 12">
            <a:extLst>
              <a:ext uri="{FF2B5EF4-FFF2-40B4-BE49-F238E27FC236}">
                <a16:creationId xmlns:a16="http://schemas.microsoft.com/office/drawing/2014/main" id="{A0738A8C-E1A1-18EE-9545-45FBC5FFE439}"/>
              </a:ext>
            </a:extLst>
          </p:cNvPr>
          <p:cNvPicPr>
            <a:picLocks noChangeAspect="1"/>
          </p:cNvPicPr>
          <p:nvPr/>
        </p:nvPicPr>
        <p:blipFill>
          <a:blip r:embed="rId5"/>
          <a:stretch>
            <a:fillRect/>
          </a:stretch>
        </p:blipFill>
        <p:spPr>
          <a:xfrm>
            <a:off x="0" y="176039"/>
            <a:ext cx="4157177" cy="2416227"/>
          </a:xfrm>
          <a:prstGeom prst="rect">
            <a:avLst/>
          </a:prstGeom>
        </p:spPr>
      </p:pic>
      <p:pic>
        <p:nvPicPr>
          <p:cNvPr id="15" name="图片 14">
            <a:extLst>
              <a:ext uri="{FF2B5EF4-FFF2-40B4-BE49-F238E27FC236}">
                <a16:creationId xmlns:a16="http://schemas.microsoft.com/office/drawing/2014/main" id="{43824CB1-9C1C-55D8-1C8B-ED76BA463CB1}"/>
              </a:ext>
            </a:extLst>
          </p:cNvPr>
          <p:cNvPicPr>
            <a:picLocks noChangeAspect="1"/>
          </p:cNvPicPr>
          <p:nvPr/>
        </p:nvPicPr>
        <p:blipFill>
          <a:blip r:embed="rId6"/>
          <a:stretch>
            <a:fillRect/>
          </a:stretch>
        </p:blipFill>
        <p:spPr>
          <a:xfrm>
            <a:off x="31226" y="2592266"/>
            <a:ext cx="3530126" cy="2592574"/>
          </a:xfrm>
          <a:prstGeom prst="rect">
            <a:avLst/>
          </a:prstGeom>
        </p:spPr>
      </p:pic>
      <p:pic>
        <p:nvPicPr>
          <p:cNvPr id="17" name="图片 16">
            <a:extLst>
              <a:ext uri="{FF2B5EF4-FFF2-40B4-BE49-F238E27FC236}">
                <a16:creationId xmlns:a16="http://schemas.microsoft.com/office/drawing/2014/main" id="{11E24CDD-FB21-3750-2CAC-AF1FAF6078B4}"/>
              </a:ext>
            </a:extLst>
          </p:cNvPr>
          <p:cNvPicPr>
            <a:picLocks noChangeAspect="1"/>
          </p:cNvPicPr>
          <p:nvPr/>
        </p:nvPicPr>
        <p:blipFill>
          <a:blip r:embed="rId7"/>
          <a:stretch>
            <a:fillRect/>
          </a:stretch>
        </p:blipFill>
        <p:spPr>
          <a:xfrm>
            <a:off x="2304521" y="2869049"/>
            <a:ext cx="3002366" cy="2621413"/>
          </a:xfrm>
          <a:prstGeom prst="rect">
            <a:avLst/>
          </a:prstGeom>
        </p:spPr>
      </p:pic>
      <p:sp>
        <p:nvSpPr>
          <p:cNvPr id="18" name="文本框 17">
            <a:extLst>
              <a:ext uri="{FF2B5EF4-FFF2-40B4-BE49-F238E27FC236}">
                <a16:creationId xmlns:a16="http://schemas.microsoft.com/office/drawing/2014/main" id="{04307005-42D4-A908-7259-993261D0FCDF}"/>
              </a:ext>
            </a:extLst>
          </p:cNvPr>
          <p:cNvSpPr txBox="1"/>
          <p:nvPr/>
        </p:nvSpPr>
        <p:spPr>
          <a:xfrm>
            <a:off x="3297788" y="6302396"/>
            <a:ext cx="5596423" cy="523220"/>
          </a:xfrm>
          <a:prstGeom prst="rect">
            <a:avLst/>
          </a:prstGeom>
          <a:noFill/>
        </p:spPr>
        <p:txBody>
          <a:bodyPr wrap="square" rtlCol="0">
            <a:spAutoFit/>
          </a:bodyPr>
          <a:lstStyle/>
          <a:p>
            <a:pPr marL="285750" indent="-285750">
              <a:buFont typeface="Arial" panose="020B0604020202020204" pitchFamily="34" charset="0"/>
              <a:buChar char="•"/>
            </a:pPr>
            <a:r>
              <a:rPr lang="zh-CN" altLang="en-US" sz="1400" b="1" dirty="0">
                <a:latin typeface="+mn-ea"/>
              </a:rPr>
              <a:t>通过对比</a:t>
            </a:r>
            <a:r>
              <a:rPr lang="en-US" altLang="zh-CN" sz="1400" b="1" dirty="0">
                <a:latin typeface="+mn-ea"/>
              </a:rPr>
              <a:t>coze</a:t>
            </a:r>
            <a:r>
              <a:rPr lang="zh-CN" altLang="en-US" sz="1400" b="1" dirty="0">
                <a:latin typeface="+mn-ea"/>
              </a:rPr>
              <a:t>生成（左）和文心生成（右）可以看出，在相同人设和插件的条件下，文心出现了拒绝回答的情况</a:t>
            </a:r>
          </a:p>
        </p:txBody>
      </p:sp>
    </p:spTree>
    <p:extLst>
      <p:ext uri="{BB962C8B-B14F-4D97-AF65-F5344CB8AC3E}">
        <p14:creationId xmlns:p14="http://schemas.microsoft.com/office/powerpoint/2010/main" val="1982988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422E984-6ABF-1078-7354-610921BEA0DC}"/>
              </a:ext>
            </a:extLst>
          </p:cNvPr>
          <p:cNvSpPr>
            <a:spLocks noGrp="1"/>
          </p:cNvSpPr>
          <p:nvPr>
            <p:ph idx="1"/>
          </p:nvPr>
        </p:nvSpPr>
        <p:spPr>
          <a:xfrm>
            <a:off x="571500" y="361950"/>
            <a:ext cx="5118100" cy="5986463"/>
          </a:xfrm>
        </p:spPr>
        <p:txBody>
          <a:bodyPr>
            <a:normAutofit/>
          </a:bodyPr>
          <a:lstStyle/>
          <a:p>
            <a:pPr marL="0" indent="0" algn="l">
              <a:buNone/>
            </a:pPr>
            <a:endParaRPr lang="en-US" altLang="zh-CN" sz="1400" b="0" i="0" dirty="0">
              <a:solidFill>
                <a:srgbClr val="222222"/>
              </a:solidFill>
              <a:effectLst/>
              <a:latin typeface="PingFang SC"/>
            </a:endParaRPr>
          </a:p>
          <a:p>
            <a:pPr marL="0" indent="0" algn="l">
              <a:buNone/>
            </a:pPr>
            <a:endParaRPr lang="en-US" altLang="zh-CN" sz="1400" dirty="0">
              <a:solidFill>
                <a:srgbClr val="222222"/>
              </a:solidFill>
              <a:latin typeface="PingFang SC"/>
            </a:endParaRPr>
          </a:p>
          <a:p>
            <a:pPr marL="0" indent="0" algn="l">
              <a:buNone/>
            </a:pPr>
            <a:endParaRPr lang="en-US" altLang="zh-CN" sz="1400" b="0" i="0" dirty="0">
              <a:solidFill>
                <a:srgbClr val="222222"/>
              </a:solidFill>
              <a:effectLst/>
              <a:latin typeface="PingFang SC"/>
            </a:endParaRPr>
          </a:p>
          <a:p>
            <a:pPr marL="0" indent="0" algn="l">
              <a:buNone/>
            </a:pPr>
            <a:endParaRPr lang="en-US" altLang="zh-CN" sz="1400" dirty="0">
              <a:solidFill>
                <a:srgbClr val="222222"/>
              </a:solidFill>
              <a:latin typeface="PingFang SC"/>
            </a:endParaRPr>
          </a:p>
          <a:p>
            <a:pPr marL="0" indent="0" algn="l">
              <a:buNone/>
            </a:pPr>
            <a:r>
              <a:rPr lang="zh-CN" altLang="en-US" sz="1400" b="0" i="0" dirty="0">
                <a:solidFill>
                  <a:srgbClr val="222222"/>
                </a:solidFill>
                <a:effectLst/>
                <a:latin typeface="PingFang SC"/>
              </a:rPr>
              <a:t>陈胜，秦二世元年（前 </a:t>
            </a:r>
            <a:r>
              <a:rPr lang="en-US" altLang="zh-CN" sz="1400" b="0" i="0" dirty="0">
                <a:solidFill>
                  <a:srgbClr val="222222"/>
                </a:solidFill>
                <a:effectLst/>
                <a:latin typeface="PingFang SC"/>
              </a:rPr>
              <a:t>209 </a:t>
            </a:r>
            <a:r>
              <a:rPr lang="zh-CN" altLang="en-US" sz="1400" b="0" i="0" dirty="0">
                <a:solidFill>
                  <a:srgbClr val="222222"/>
                </a:solidFill>
                <a:effectLst/>
                <a:latin typeface="PingFang SC"/>
              </a:rPr>
              <a:t>年）与吴广在大泽乡起义。陈胜的部将周章由陈县略地至戏水附近，其部下周文更是率军打到离咸阳只有数十公里的戏地。</a:t>
            </a:r>
            <a:r>
              <a:rPr lang="zh-CN" altLang="en-US" sz="1400" b="0" i="0" dirty="0">
                <a:solidFill>
                  <a:srgbClr val="FF0000"/>
                </a:solidFill>
                <a:effectLst/>
                <a:latin typeface="PingFang SC"/>
              </a:rPr>
              <a:t>陈胜兵败于荥阳，被叛变的车伕庄贾斩首。后被封为汉王，辖汉中、巴、蜀一带，建都南郑。</a:t>
            </a:r>
          </a:p>
          <a:p>
            <a:pPr marL="0" indent="0" algn="l">
              <a:buNone/>
            </a:pPr>
            <a:r>
              <a:rPr lang="zh-CN" altLang="en-US" sz="1400" b="0" i="0" dirty="0">
                <a:solidFill>
                  <a:srgbClr val="222222"/>
                </a:solidFill>
                <a:effectLst/>
                <a:latin typeface="PingFang SC"/>
              </a:rPr>
              <a:t>吴广，与陈胜一同在大泽乡起义。在起义过程中，吴广杀死会稽郡守殷通，率领八千江东子弟兵加入起义，北上渡江作战。后因内哄被杀。在巨鹿之战中，吴广先派英布截断秦军粮道，再亲率以楚军为主的诸侯盟军与秦军决战，九战九捷，大败秦军，俘秦主帅王离，副帅涉间自焚，</a:t>
            </a:r>
            <a:r>
              <a:rPr lang="zh-CN" altLang="en-US" sz="1400" b="0" i="0" dirty="0">
                <a:effectLst/>
                <a:latin typeface="PingFang SC"/>
              </a:rPr>
              <a:t>秦勇将苏角被吴广亲自击杀。后被各路诸侯推举为上将军，统兵 </a:t>
            </a:r>
            <a:r>
              <a:rPr lang="en-US" altLang="zh-CN" sz="1400" b="0" i="0" dirty="0">
                <a:effectLst/>
                <a:latin typeface="PingFang SC"/>
              </a:rPr>
              <a:t>40 </a:t>
            </a:r>
            <a:r>
              <a:rPr lang="zh-CN" altLang="en-US" sz="1400" b="0" i="0" dirty="0">
                <a:effectLst/>
                <a:latin typeface="PingFang SC"/>
              </a:rPr>
              <a:t>万，继续反秦事业。</a:t>
            </a:r>
            <a:r>
              <a:rPr lang="zh-CN" altLang="en-US" sz="1400" dirty="0">
                <a:solidFill>
                  <a:srgbClr val="222222"/>
                </a:solidFill>
                <a:latin typeface="PingFang SC"/>
              </a:rPr>
              <a:t>后来，他被部将田臧假称陈胜之命杀害。</a:t>
            </a:r>
            <a:r>
              <a:rPr lang="zh-CN" altLang="en-US" sz="1400" b="0" i="0" dirty="0">
                <a:solidFill>
                  <a:srgbClr val="FF0000"/>
                </a:solidFill>
                <a:effectLst/>
                <a:latin typeface="PingFang SC"/>
              </a:rPr>
              <a:t>前 </a:t>
            </a:r>
            <a:r>
              <a:rPr lang="en-US" altLang="zh-CN" sz="1400" b="0" i="0" dirty="0">
                <a:solidFill>
                  <a:srgbClr val="FF0000"/>
                </a:solidFill>
                <a:effectLst/>
                <a:latin typeface="PingFang SC"/>
              </a:rPr>
              <a:t>206 </a:t>
            </a:r>
            <a:r>
              <a:rPr lang="zh-CN" altLang="en-US" sz="1400" b="0" i="0" dirty="0">
                <a:solidFill>
                  <a:srgbClr val="FF0000"/>
                </a:solidFill>
                <a:effectLst/>
                <a:latin typeface="PingFang SC"/>
              </a:rPr>
              <a:t>年 </a:t>
            </a:r>
            <a:r>
              <a:rPr lang="en-US" altLang="zh-CN" sz="1400" b="0" i="0" dirty="0">
                <a:solidFill>
                  <a:srgbClr val="FF0000"/>
                </a:solidFill>
                <a:effectLst/>
                <a:latin typeface="PingFang SC"/>
              </a:rPr>
              <a:t>2 </a:t>
            </a:r>
            <a:r>
              <a:rPr lang="zh-CN" altLang="en-US" sz="1400" b="0" i="0" dirty="0">
                <a:solidFill>
                  <a:srgbClr val="FF0000"/>
                </a:solidFill>
                <a:effectLst/>
                <a:latin typeface="PingFang SC"/>
              </a:rPr>
              <a:t>月，吴广尊楚后怀王为楚义帝，徙义帝于江南，都郴，后来又刺杀了义帝。前 </a:t>
            </a:r>
            <a:r>
              <a:rPr lang="en-US" altLang="zh-CN" sz="1400" b="0" i="0" dirty="0">
                <a:solidFill>
                  <a:srgbClr val="FF0000"/>
                </a:solidFill>
                <a:effectLst/>
                <a:latin typeface="PingFang SC"/>
              </a:rPr>
              <a:t>206 </a:t>
            </a:r>
            <a:r>
              <a:rPr lang="zh-CN" altLang="en-US" sz="1400" b="0" i="0" dirty="0">
                <a:solidFill>
                  <a:srgbClr val="FF0000"/>
                </a:solidFill>
                <a:effectLst/>
                <a:latin typeface="PingFang SC"/>
              </a:rPr>
              <a:t>年 </a:t>
            </a:r>
            <a:r>
              <a:rPr lang="en-US" altLang="zh-CN" sz="1400" b="0" i="0" dirty="0">
                <a:solidFill>
                  <a:srgbClr val="FF0000"/>
                </a:solidFill>
                <a:effectLst/>
                <a:latin typeface="PingFang SC"/>
              </a:rPr>
              <a:t>3 </a:t>
            </a:r>
            <a:r>
              <a:rPr lang="zh-CN" altLang="en-US" sz="1400" b="0" i="0" dirty="0">
                <a:solidFill>
                  <a:srgbClr val="FF0000"/>
                </a:solidFill>
                <a:effectLst/>
                <a:latin typeface="PingFang SC"/>
              </a:rPr>
              <a:t>月，吴广自封为西楚霸王，楚国疆域为梁楚九郡，建都彭城，又分封十八路诸侯。</a:t>
            </a:r>
            <a:r>
              <a:rPr lang="en-US" altLang="zh-CN" sz="1400" b="1" i="0" dirty="0">
                <a:solidFill>
                  <a:srgbClr val="FF0000"/>
                </a:solidFill>
                <a:effectLst/>
                <a:latin typeface="PingFang SC"/>
              </a:rPr>
              <a:t>(coze</a:t>
            </a:r>
            <a:r>
              <a:rPr lang="zh-CN" altLang="en-US" sz="1400" b="1" i="0" dirty="0">
                <a:solidFill>
                  <a:srgbClr val="FF0000"/>
                </a:solidFill>
                <a:effectLst/>
                <a:latin typeface="PingFang SC"/>
              </a:rPr>
              <a:t>生成</a:t>
            </a:r>
            <a:r>
              <a:rPr lang="en-US" altLang="zh-CN" sz="1400" b="1" i="0" dirty="0">
                <a:solidFill>
                  <a:srgbClr val="FF0000"/>
                </a:solidFill>
                <a:effectLst/>
                <a:latin typeface="PingFang SC"/>
              </a:rPr>
              <a:t>)</a:t>
            </a:r>
            <a:endParaRPr lang="zh-CN" altLang="en-US" sz="1400" b="1" i="0" dirty="0">
              <a:solidFill>
                <a:srgbClr val="FF0000"/>
              </a:solidFill>
              <a:effectLst/>
              <a:latin typeface="PingFang SC"/>
            </a:endParaRPr>
          </a:p>
        </p:txBody>
      </p:sp>
      <p:sp>
        <p:nvSpPr>
          <p:cNvPr id="4" name="内容占位符 2">
            <a:extLst>
              <a:ext uri="{FF2B5EF4-FFF2-40B4-BE49-F238E27FC236}">
                <a16:creationId xmlns:a16="http://schemas.microsoft.com/office/drawing/2014/main" id="{A8937D07-249E-0DC6-8FD0-BCF781D9F735}"/>
              </a:ext>
            </a:extLst>
          </p:cNvPr>
          <p:cNvSpPr txBox="1">
            <a:spLocks/>
          </p:cNvSpPr>
          <p:nvPr/>
        </p:nvSpPr>
        <p:spPr>
          <a:xfrm>
            <a:off x="5689600" y="382587"/>
            <a:ext cx="5118100" cy="59864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zh-CN" altLang="en-US" sz="1050" b="0" i="0" dirty="0">
                <a:solidFill>
                  <a:srgbClr val="333333"/>
                </a:solidFill>
                <a:effectLst/>
                <a:latin typeface="+mn-ea"/>
              </a:rPr>
              <a:t>陈胜和吴广是中国历史上著名的农民起义领袖，他们的事迹发生在秦朝末年，对后世产生了深远的影响。以下是他们起义过程、战斗经历以及最终失败的详细介绍：</a:t>
            </a:r>
          </a:p>
          <a:p>
            <a:pPr marL="0" indent="0" algn="just">
              <a:lnSpc>
                <a:spcPct val="120000"/>
              </a:lnSpc>
              <a:buNone/>
            </a:pPr>
            <a:r>
              <a:rPr lang="zh-CN" altLang="en-US" sz="1050" b="1" i="0" dirty="0">
                <a:solidFill>
                  <a:srgbClr val="333333"/>
                </a:solidFill>
                <a:effectLst/>
                <a:latin typeface="+mn-ea"/>
              </a:rPr>
              <a:t>起义过程</a:t>
            </a:r>
          </a:p>
          <a:p>
            <a:pPr marL="0" indent="0" algn="just">
              <a:lnSpc>
                <a:spcPct val="120000"/>
              </a:lnSpc>
              <a:buNone/>
            </a:pPr>
            <a:r>
              <a:rPr lang="zh-CN" altLang="en-US" sz="1050" b="0" i="0" dirty="0">
                <a:solidFill>
                  <a:srgbClr val="333333"/>
                </a:solidFill>
                <a:effectLst/>
                <a:latin typeface="+mn-ea"/>
              </a:rPr>
              <a:t>秦二世元年（前</a:t>
            </a:r>
            <a:r>
              <a:rPr lang="en-US" altLang="zh-CN" sz="1050" b="0" i="0" dirty="0">
                <a:solidFill>
                  <a:srgbClr val="333333"/>
                </a:solidFill>
                <a:effectLst/>
                <a:latin typeface="+mn-ea"/>
              </a:rPr>
              <a:t>209</a:t>
            </a:r>
            <a:r>
              <a:rPr lang="zh-CN" altLang="en-US" sz="1050" b="0" i="0" dirty="0">
                <a:solidFill>
                  <a:srgbClr val="333333"/>
                </a:solidFill>
                <a:effectLst/>
                <a:latin typeface="+mn-ea"/>
              </a:rPr>
              <a:t>年），陈胜、吴广被征发前往渔阳戍守，途中因遇大雨而误期，面临死刑的威胁。于是，他们在大泽乡（今安徽宿州东南）共同策划起义，并成功发动，成为中国历史上第一次大规模的农民起义。起义军迅速壮大，陈胜被推举为王，建立张楚政权，并号召天下群雄并起反秦。</a:t>
            </a:r>
          </a:p>
          <a:p>
            <a:pPr marL="0" indent="0" algn="just">
              <a:lnSpc>
                <a:spcPct val="120000"/>
              </a:lnSpc>
              <a:buNone/>
            </a:pPr>
            <a:r>
              <a:rPr lang="zh-CN" altLang="en-US" sz="1050" b="1" i="0" dirty="0">
                <a:solidFill>
                  <a:srgbClr val="333333"/>
                </a:solidFill>
                <a:effectLst/>
                <a:latin typeface="+mn-ea"/>
              </a:rPr>
              <a:t>战斗经历</a:t>
            </a:r>
            <a:endParaRPr lang="en-US" altLang="zh-CN" sz="1050" b="0" i="0" dirty="0">
              <a:solidFill>
                <a:srgbClr val="333333"/>
              </a:solidFill>
              <a:effectLst/>
              <a:latin typeface="+mn-ea"/>
            </a:endParaRPr>
          </a:p>
          <a:p>
            <a:pPr marL="0" indent="0" algn="just">
              <a:lnSpc>
                <a:spcPct val="120000"/>
              </a:lnSpc>
              <a:buNone/>
            </a:pPr>
            <a:r>
              <a:rPr lang="zh-CN" altLang="en-US" sz="1050" b="0" i="0" dirty="0">
                <a:solidFill>
                  <a:srgbClr val="333333"/>
                </a:solidFill>
                <a:effectLst/>
                <a:latin typeface="+mn-ea"/>
              </a:rPr>
              <a:t>起义后，陈胜和吴广分别率领起义军进行战斗。陈胜率军向西攻击，先后攻占陈县、昌邑等地，并在中原地区与秦军进行激战。同时，吴广也率军北上，与秦军在多个战场进行交锋，取得了显著的战果。</a:t>
            </a:r>
          </a:p>
          <a:p>
            <a:pPr marL="0" indent="0" algn="just">
              <a:lnSpc>
                <a:spcPct val="120000"/>
              </a:lnSpc>
              <a:buNone/>
            </a:pPr>
            <a:r>
              <a:rPr lang="zh-CN" altLang="en-US" sz="1050" b="0" i="0" dirty="0">
                <a:solidFill>
                  <a:srgbClr val="FF0000"/>
                </a:solidFill>
                <a:effectLst/>
                <a:latin typeface="+mn-ea"/>
              </a:rPr>
              <a:t>其中，最为著名的战斗是巨鹿之战。吴广率领以楚军为主的诸侯盟军与秦军决战，九战九捷，大败秦军，俘秦主帅王离，副帅涉间自焚，秦勇将苏角被吴广亲自击杀。此战使吴广声威大振，被各路诸侯推举为上将军，统兵</a:t>
            </a:r>
            <a:r>
              <a:rPr lang="en-US" altLang="zh-CN" sz="1050" b="0" i="0" dirty="0">
                <a:solidFill>
                  <a:srgbClr val="FF0000"/>
                </a:solidFill>
                <a:effectLst/>
                <a:latin typeface="+mn-ea"/>
              </a:rPr>
              <a:t>40</a:t>
            </a:r>
            <a:r>
              <a:rPr lang="zh-CN" altLang="en-US" sz="1050" b="0" i="0" dirty="0">
                <a:solidFill>
                  <a:srgbClr val="FF0000"/>
                </a:solidFill>
                <a:effectLst/>
                <a:latin typeface="+mn-ea"/>
              </a:rPr>
              <a:t>万，继续反秦事业。</a:t>
            </a:r>
          </a:p>
          <a:p>
            <a:pPr marL="0" indent="0" algn="just">
              <a:lnSpc>
                <a:spcPct val="120000"/>
              </a:lnSpc>
              <a:buNone/>
            </a:pPr>
            <a:r>
              <a:rPr lang="zh-CN" altLang="en-US" sz="1050" b="1" i="0" dirty="0">
                <a:solidFill>
                  <a:srgbClr val="333333"/>
                </a:solidFill>
                <a:effectLst/>
                <a:latin typeface="+mn-ea"/>
              </a:rPr>
              <a:t>最终失败</a:t>
            </a:r>
          </a:p>
          <a:p>
            <a:pPr marL="0" indent="0" algn="just">
              <a:lnSpc>
                <a:spcPct val="120000"/>
              </a:lnSpc>
              <a:buNone/>
            </a:pPr>
            <a:r>
              <a:rPr lang="zh-CN" altLang="en-US" sz="1050" b="0" i="0" dirty="0">
                <a:solidFill>
                  <a:srgbClr val="333333"/>
                </a:solidFill>
                <a:effectLst/>
                <a:latin typeface="+mn-ea"/>
              </a:rPr>
              <a:t>然而，随着起义的发展，陈胜和吴广的内部出现了矛盾。陈胜开始滥杀旧友，对臣属苛刻，导致将士离心。同时，吴广也在与诸侯的合作中出现了分歧。</a:t>
            </a:r>
            <a:r>
              <a:rPr lang="zh-CN" altLang="en-US" sz="1050" b="0" i="0" dirty="0">
                <a:solidFill>
                  <a:srgbClr val="FF0000"/>
                </a:solidFill>
                <a:effectLst/>
                <a:latin typeface="+mn-ea"/>
              </a:rPr>
              <a:t>最终，在鸿门宴上，范增欲杀陈胜，但吴广顾及与陈胜的结义之情与诸侯的威胁，放归陈胜。</a:t>
            </a:r>
          </a:p>
          <a:p>
            <a:pPr marL="0" indent="0" algn="just">
              <a:lnSpc>
                <a:spcPct val="120000"/>
              </a:lnSpc>
              <a:buNone/>
            </a:pPr>
            <a:r>
              <a:rPr lang="zh-CN" altLang="en-US" sz="1050" b="0" i="0" dirty="0">
                <a:solidFill>
                  <a:srgbClr val="333333"/>
                </a:solidFill>
                <a:effectLst/>
                <a:latin typeface="+mn-ea"/>
              </a:rPr>
              <a:t>此后，陈胜和吴广的起义军逐渐走向衰落。吴广在追击章邯的过程中被秦军击败，被迫撤退。而陈胜也在荥阳之战中被叛变的车伕庄贾斩首。随着两位领袖的相继去世，起义军也逐渐瓦解，最终未能推翻秦朝的统治。</a:t>
            </a:r>
          </a:p>
          <a:p>
            <a:pPr marL="0" indent="0" algn="just">
              <a:lnSpc>
                <a:spcPct val="120000"/>
              </a:lnSpc>
              <a:buNone/>
            </a:pPr>
            <a:r>
              <a:rPr lang="zh-CN" altLang="en-US" sz="1050" b="0" i="0" dirty="0">
                <a:solidFill>
                  <a:srgbClr val="333333"/>
                </a:solidFill>
                <a:effectLst/>
                <a:latin typeface="+mn-ea"/>
              </a:rPr>
              <a:t>尽管如此，陈胜和吴广领导的起义仍然具有重大的历史意义。他们不仅沉重打击了秦朝的统治，还拉开了秦末农民起义的序幕，为之后刘邦和项羽灭秦奠定了基础。同时，他们的起义也反映了当时社会的尖锐矛盾和民众对秦朝统治的不满与绝望。</a:t>
            </a:r>
            <a:r>
              <a:rPr lang="zh-CN" altLang="en-US" sz="1050" b="1" dirty="0">
                <a:solidFill>
                  <a:srgbClr val="FF0000"/>
                </a:solidFill>
                <a:latin typeface="PingFang SC"/>
              </a:rPr>
              <a:t>（文心生成）</a:t>
            </a:r>
          </a:p>
          <a:p>
            <a:endParaRPr lang="zh-CN" altLang="en-US" sz="1050" dirty="0"/>
          </a:p>
        </p:txBody>
      </p:sp>
    </p:spTree>
    <p:extLst>
      <p:ext uri="{BB962C8B-B14F-4D97-AF65-F5344CB8AC3E}">
        <p14:creationId xmlns:p14="http://schemas.microsoft.com/office/powerpoint/2010/main" val="20971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0A4D7D-E3D0-114B-5074-94DAA79119E0}"/>
              </a:ext>
            </a:extLst>
          </p:cNvPr>
          <p:cNvSpPr>
            <a:spLocks noGrp="1"/>
          </p:cNvSpPr>
          <p:nvPr>
            <p:ph type="title"/>
          </p:nvPr>
        </p:nvSpPr>
        <p:spPr>
          <a:xfrm>
            <a:off x="838200" y="630237"/>
            <a:ext cx="10515600" cy="1325563"/>
          </a:xfrm>
        </p:spPr>
        <p:txBody>
          <a:bodyPr/>
          <a:lstStyle/>
          <a:p>
            <a:pPr algn="ctr"/>
            <a:r>
              <a:rPr lang="zh-CN" altLang="en-US" dirty="0"/>
              <a:t>智能体幻觉纠正</a:t>
            </a:r>
          </a:p>
        </p:txBody>
      </p:sp>
      <p:sp>
        <p:nvSpPr>
          <p:cNvPr id="4" name="文本框 3">
            <a:extLst>
              <a:ext uri="{FF2B5EF4-FFF2-40B4-BE49-F238E27FC236}">
                <a16:creationId xmlns:a16="http://schemas.microsoft.com/office/drawing/2014/main" id="{99468316-4E2C-C9D4-DEE4-E68D71BBECEE}"/>
              </a:ext>
            </a:extLst>
          </p:cNvPr>
          <p:cNvSpPr txBox="1"/>
          <p:nvPr/>
        </p:nvSpPr>
        <p:spPr>
          <a:xfrm>
            <a:off x="762000" y="2184400"/>
            <a:ext cx="10922000"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由于人为输入了错误的知识，导致两个智能体产生了不同程度的幻觉，通过在工作流中添加纠正模块，可以不同程度地修复智能体幻觉</a:t>
            </a:r>
            <a:endParaRPr lang="en-US" altLang="zh-CN" dirty="0"/>
          </a:p>
          <a:p>
            <a:pPr marL="285750" indent="-285750">
              <a:buFont typeface="Arial" panose="020B0604020202020204" pitchFamily="34" charset="0"/>
              <a:buChar char="•"/>
            </a:pPr>
            <a:r>
              <a:rPr lang="zh-CN" altLang="en-US" dirty="0"/>
              <a:t>一次纠正后的</a:t>
            </a:r>
            <a:r>
              <a:rPr lang="en-US" altLang="zh-CN" dirty="0"/>
              <a:t>COZE</a:t>
            </a:r>
            <a:r>
              <a:rPr lang="zh-CN" altLang="en-US" dirty="0"/>
              <a:t>智能体减少了幻觉表现，但仍存在错误回答。再次纠正答案后回答完全正确</a:t>
            </a:r>
            <a:endParaRPr lang="en-US" altLang="zh-CN" dirty="0"/>
          </a:p>
          <a:p>
            <a:pPr marL="285750" indent="-285750">
              <a:buFont typeface="Arial" panose="020B0604020202020204" pitchFamily="34" charset="0"/>
              <a:buChar char="•"/>
            </a:pPr>
            <a:r>
              <a:rPr lang="zh-CN" altLang="en-US" dirty="0"/>
              <a:t>一次纠正后文心智能体也减少了幻觉表现，但二次纠正后依然存在错误回答</a:t>
            </a:r>
          </a:p>
        </p:txBody>
      </p:sp>
      <p:pic>
        <p:nvPicPr>
          <p:cNvPr id="6" name="图片 5">
            <a:extLst>
              <a:ext uri="{FF2B5EF4-FFF2-40B4-BE49-F238E27FC236}">
                <a16:creationId xmlns:a16="http://schemas.microsoft.com/office/drawing/2014/main" id="{4CA07322-D7D6-6D6D-AFBD-471E26C0E2C0}"/>
              </a:ext>
            </a:extLst>
          </p:cNvPr>
          <p:cNvPicPr>
            <a:picLocks noChangeAspect="1"/>
          </p:cNvPicPr>
          <p:nvPr/>
        </p:nvPicPr>
        <p:blipFill>
          <a:blip r:embed="rId2"/>
          <a:stretch>
            <a:fillRect/>
          </a:stretch>
        </p:blipFill>
        <p:spPr>
          <a:xfrm>
            <a:off x="1225550" y="3548565"/>
            <a:ext cx="8947150" cy="3191697"/>
          </a:xfrm>
          <a:prstGeom prst="rect">
            <a:avLst/>
          </a:prstGeom>
        </p:spPr>
      </p:pic>
    </p:spTree>
    <p:extLst>
      <p:ext uri="{BB962C8B-B14F-4D97-AF65-F5344CB8AC3E}">
        <p14:creationId xmlns:p14="http://schemas.microsoft.com/office/powerpoint/2010/main" val="3580003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DCA9C37-BFA4-04B0-F5D8-0CD5852689A6}"/>
              </a:ext>
            </a:extLst>
          </p:cNvPr>
          <p:cNvSpPr>
            <a:spLocks noGrp="1"/>
          </p:cNvSpPr>
          <p:nvPr>
            <p:ph idx="1"/>
          </p:nvPr>
        </p:nvSpPr>
        <p:spPr>
          <a:xfrm>
            <a:off x="571500" y="361950"/>
            <a:ext cx="5118100" cy="5986463"/>
          </a:xfrm>
        </p:spPr>
        <p:txBody>
          <a:bodyPr>
            <a:normAutofit/>
          </a:bodyPr>
          <a:lstStyle/>
          <a:p>
            <a:pPr marL="0" indent="0" algn="l">
              <a:buNone/>
            </a:pPr>
            <a:endParaRPr lang="en-US" altLang="zh-CN" sz="1400" b="0" i="0" dirty="0">
              <a:solidFill>
                <a:srgbClr val="222222"/>
              </a:solidFill>
              <a:effectLst/>
              <a:latin typeface="PingFang SC"/>
            </a:endParaRPr>
          </a:p>
          <a:p>
            <a:pPr marL="0" indent="0" algn="l">
              <a:buNone/>
            </a:pPr>
            <a:endParaRPr lang="en-US" altLang="zh-CN" sz="1400" dirty="0">
              <a:solidFill>
                <a:srgbClr val="222222"/>
              </a:solidFill>
              <a:latin typeface="PingFang SC"/>
            </a:endParaRPr>
          </a:p>
          <a:p>
            <a:pPr marL="0" indent="0" algn="l">
              <a:buNone/>
            </a:pPr>
            <a:endParaRPr lang="en-US" altLang="zh-CN" sz="1400" b="0" i="0" dirty="0">
              <a:solidFill>
                <a:srgbClr val="222222"/>
              </a:solidFill>
              <a:effectLst/>
              <a:latin typeface="PingFang SC"/>
            </a:endParaRPr>
          </a:p>
          <a:p>
            <a:pPr marL="0" indent="0" algn="l">
              <a:buNone/>
            </a:pPr>
            <a:endParaRPr lang="en-US" altLang="zh-CN" sz="1400" dirty="0">
              <a:solidFill>
                <a:srgbClr val="222222"/>
              </a:solidFill>
              <a:latin typeface="PingFang SC"/>
            </a:endParaRPr>
          </a:p>
          <a:p>
            <a:pPr marL="0" indent="0" algn="l">
              <a:buNone/>
            </a:pPr>
            <a:r>
              <a:rPr lang="zh-CN" altLang="en-US" sz="1400" b="0" i="0" dirty="0">
                <a:solidFill>
                  <a:srgbClr val="1F2329"/>
                </a:solidFill>
                <a:effectLst/>
                <a:latin typeface="+mn-ea"/>
              </a:rPr>
              <a:t>这段内容存在多处错误。 陈胜、吴广在秦二世元年（前</a:t>
            </a:r>
            <a:r>
              <a:rPr lang="en-US" altLang="zh-CN" sz="1400" b="0" i="0" dirty="0">
                <a:solidFill>
                  <a:srgbClr val="1F2329"/>
                </a:solidFill>
                <a:effectLst/>
                <a:latin typeface="+mn-ea"/>
              </a:rPr>
              <a:t>209</a:t>
            </a:r>
            <a:r>
              <a:rPr lang="zh-CN" altLang="en-US" sz="1400" b="0" i="0" dirty="0">
                <a:solidFill>
                  <a:srgbClr val="1F2329"/>
                </a:solidFill>
                <a:effectLst/>
                <a:latin typeface="+mn-ea"/>
              </a:rPr>
              <a:t>年）于大泽乡起义，陈胜部将周文、吴广部将田臧分别进军至不同地区。后来，吴广因被部将田臧所杀；陈胜也兵败于荥阳，被叛变的车夫庄贾斩首。 楚后怀王派遣宋义为上将军、项羽为次将、范增为末将率军北上救赵，同时派刘邦进攻关中。巨鹿之战是项羽先派英布截断秦军粮道，再亲率诸侯盟军与秦军决战，九战九捷，大败秦军。 刘邦领军向西攻击，先攻昌邑不下，在郦食其建议下攻击陈留成功。</a:t>
            </a:r>
            <a:r>
              <a:rPr lang="zh-CN" altLang="en-US" sz="1400" b="0" i="0" dirty="0">
                <a:solidFill>
                  <a:srgbClr val="FF0000"/>
                </a:solidFill>
                <a:effectLst/>
                <a:latin typeface="+mn-ea"/>
              </a:rPr>
              <a:t>刘邦追击章邯时，章邯粮食短缺，在与刘邦的战斗中多次失败，最终被迫在洹水南殷墟率秦军</a:t>
            </a:r>
            <a:r>
              <a:rPr lang="en-US" altLang="zh-CN" sz="1400" b="0" i="0" dirty="0">
                <a:solidFill>
                  <a:srgbClr val="FF0000"/>
                </a:solidFill>
                <a:effectLst/>
                <a:latin typeface="+mn-ea"/>
              </a:rPr>
              <a:t>20</a:t>
            </a:r>
            <a:r>
              <a:rPr lang="zh-CN" altLang="en-US" sz="1400" b="0" i="0" dirty="0">
                <a:solidFill>
                  <a:srgbClr val="FF0000"/>
                </a:solidFill>
                <a:effectLst/>
                <a:latin typeface="+mn-ea"/>
              </a:rPr>
              <a:t>万投降。 刘邦来到开封与秦大将赵贲大战</a:t>
            </a:r>
            <a:r>
              <a:rPr lang="zh-CN" altLang="en-US" sz="1400" b="0" i="0" dirty="0">
                <a:solidFill>
                  <a:srgbClr val="1F2329"/>
                </a:solidFill>
                <a:effectLst/>
                <a:latin typeface="+mn-ea"/>
              </a:rPr>
              <a:t>，破赵贲后夺取白马，降南阳，占武关，破秦军逼近咸阳，秦二世被杀后，子婴降刘邦。鸿门宴上，范增欲杀刘邦。 前</a:t>
            </a:r>
            <a:r>
              <a:rPr lang="en-US" altLang="zh-CN" sz="1400" b="0" i="0" dirty="0">
                <a:solidFill>
                  <a:srgbClr val="1F2329"/>
                </a:solidFill>
                <a:effectLst/>
                <a:latin typeface="+mn-ea"/>
              </a:rPr>
              <a:t>206</a:t>
            </a:r>
            <a:r>
              <a:rPr lang="zh-CN" altLang="en-US" sz="1400" b="0" i="0" dirty="0">
                <a:solidFill>
                  <a:srgbClr val="1F2329"/>
                </a:solidFill>
                <a:effectLst/>
                <a:latin typeface="+mn-ea"/>
              </a:rPr>
              <a:t>年</a:t>
            </a:r>
            <a:r>
              <a:rPr lang="en-US" altLang="zh-CN" sz="1400" b="0" i="0" dirty="0">
                <a:solidFill>
                  <a:srgbClr val="1F2329"/>
                </a:solidFill>
                <a:effectLst/>
                <a:latin typeface="+mn-ea"/>
              </a:rPr>
              <a:t>2</a:t>
            </a:r>
            <a:r>
              <a:rPr lang="zh-CN" altLang="en-US" sz="1400" b="0" i="0" dirty="0">
                <a:solidFill>
                  <a:srgbClr val="1F2329"/>
                </a:solidFill>
                <a:effectLst/>
                <a:latin typeface="+mn-ea"/>
              </a:rPr>
              <a:t>月，项羽尊楚后怀王为义帝，徙义帝于江南，都郴，后又派人刺杀义帝。</a:t>
            </a:r>
            <a:r>
              <a:rPr lang="en-US" altLang="zh-CN" sz="1400" b="0" i="0" dirty="0">
                <a:solidFill>
                  <a:srgbClr val="1F2329"/>
                </a:solidFill>
                <a:effectLst/>
                <a:latin typeface="+mn-ea"/>
              </a:rPr>
              <a:t>3</a:t>
            </a:r>
            <a:r>
              <a:rPr lang="zh-CN" altLang="en-US" sz="1400" b="0" i="0" dirty="0">
                <a:solidFill>
                  <a:srgbClr val="1F2329"/>
                </a:solidFill>
                <a:effectLst/>
                <a:latin typeface="+mn-ea"/>
              </a:rPr>
              <a:t>月，自封为西楚霸王，分封诸侯，刘邦被封为汉王。</a:t>
            </a:r>
            <a:r>
              <a:rPr lang="en-US" altLang="zh-CN" sz="1400" b="1" i="0" dirty="0">
                <a:solidFill>
                  <a:srgbClr val="FF0000"/>
                </a:solidFill>
                <a:effectLst/>
                <a:latin typeface="PingFang SC"/>
              </a:rPr>
              <a:t>(coze</a:t>
            </a:r>
            <a:r>
              <a:rPr lang="zh-CN" altLang="en-US" sz="1400" b="1" i="0" dirty="0">
                <a:solidFill>
                  <a:srgbClr val="FF0000"/>
                </a:solidFill>
                <a:effectLst/>
                <a:latin typeface="PingFang SC"/>
              </a:rPr>
              <a:t>生成</a:t>
            </a:r>
            <a:r>
              <a:rPr lang="en-US" altLang="zh-CN" sz="1400" b="1" i="0" dirty="0">
                <a:solidFill>
                  <a:srgbClr val="FF0000"/>
                </a:solidFill>
                <a:effectLst/>
                <a:latin typeface="PingFang SC"/>
              </a:rPr>
              <a:t>)</a:t>
            </a:r>
            <a:endParaRPr lang="zh-CN" altLang="en-US" sz="1400" b="1" i="0" dirty="0">
              <a:solidFill>
                <a:srgbClr val="FF0000"/>
              </a:solidFill>
              <a:effectLst/>
              <a:latin typeface="PingFang SC"/>
            </a:endParaRPr>
          </a:p>
        </p:txBody>
      </p:sp>
      <p:sp>
        <p:nvSpPr>
          <p:cNvPr id="5" name="内容占位符 2">
            <a:extLst>
              <a:ext uri="{FF2B5EF4-FFF2-40B4-BE49-F238E27FC236}">
                <a16:creationId xmlns:a16="http://schemas.microsoft.com/office/drawing/2014/main" id="{FF96C1FD-94FE-021B-4F2B-340A16561B97}"/>
              </a:ext>
            </a:extLst>
          </p:cNvPr>
          <p:cNvSpPr txBox="1">
            <a:spLocks/>
          </p:cNvSpPr>
          <p:nvPr/>
        </p:nvSpPr>
        <p:spPr>
          <a:xfrm>
            <a:off x="6299200" y="361949"/>
            <a:ext cx="5118100" cy="59864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400" b="0" i="0" dirty="0">
                <a:solidFill>
                  <a:srgbClr val="1E1F24"/>
                </a:solidFill>
                <a:effectLst/>
                <a:latin typeface="+mn-ea"/>
              </a:rPr>
              <a:t>陈胜和吴广是中国历史上著名的农民起义领袖，他们在大泽乡起义中揭开了秦末农民战争的序幕，对推翻秦朝的暴政起到了关键的作用。以下是他们生平的详细介绍：</a:t>
            </a:r>
            <a:endParaRPr lang="en-US" altLang="zh-CN" sz="1400" b="0" i="0" dirty="0">
              <a:solidFill>
                <a:srgbClr val="1E1F24"/>
              </a:solidFill>
              <a:effectLst/>
              <a:latin typeface="+mn-ea"/>
            </a:endParaRPr>
          </a:p>
          <a:p>
            <a:pPr marL="0" indent="0">
              <a:buFont typeface="Arial" panose="020B0604020202020204" pitchFamily="34" charset="0"/>
              <a:buNone/>
            </a:pPr>
            <a:r>
              <a:rPr lang="zh-CN" altLang="en-US" sz="1400" b="0" i="0" dirty="0">
                <a:solidFill>
                  <a:srgbClr val="1E1F24"/>
                </a:solidFill>
                <a:effectLst/>
                <a:latin typeface="+mn-ea"/>
              </a:rPr>
              <a:t>秦二世元年（前</a:t>
            </a:r>
            <a:r>
              <a:rPr lang="en-US" altLang="zh-CN" sz="1400" b="0" i="0" dirty="0">
                <a:solidFill>
                  <a:srgbClr val="1E1F24"/>
                </a:solidFill>
                <a:effectLst/>
                <a:latin typeface="+mn-ea"/>
              </a:rPr>
              <a:t>209</a:t>
            </a:r>
            <a:r>
              <a:rPr lang="zh-CN" altLang="en-US" sz="1400" b="0" i="0" dirty="0">
                <a:solidFill>
                  <a:srgbClr val="1E1F24"/>
                </a:solidFill>
                <a:effectLst/>
                <a:latin typeface="+mn-ea"/>
              </a:rPr>
              <a:t>年），由于秦朝统治者的横征暴敛，导致民不聊生。在这一年，陈胜和吴广在大泽乡（今安徽宿州东南）领导了农民起义，点燃了反抗秦朝统治的熊熊烈火。起义军迅速壮大，天下群雄并起反秦。陈胜的部将周章由陈县略地至戏水附近，而吴广部下周文更是率军打到离咸阳只有数十公里的戏地，给秦朝统治者带来了极大的震撼。</a:t>
            </a:r>
            <a:endParaRPr lang="en-US" altLang="zh-CN" sz="1400" b="0" i="0" dirty="0">
              <a:solidFill>
                <a:srgbClr val="1E1F24"/>
              </a:solidFill>
              <a:effectLst/>
              <a:latin typeface="+mn-ea"/>
            </a:endParaRPr>
          </a:p>
          <a:p>
            <a:pPr marL="0" indent="0">
              <a:buFont typeface="Arial" panose="020B0604020202020204" pitchFamily="34" charset="0"/>
              <a:buNone/>
            </a:pPr>
            <a:r>
              <a:rPr lang="zh-CN" altLang="en-US" sz="1400" b="0" i="0" dirty="0">
                <a:solidFill>
                  <a:srgbClr val="1E1F24"/>
                </a:solidFill>
                <a:effectLst/>
                <a:latin typeface="+mn-ea"/>
              </a:rPr>
              <a:t>在起义过程中，陈胜和吴广展现了出色的军事才能和领导能力。陈胜率领起义军向西攻击，先后攻占了多个地区，包括昌邑和陈留等。</a:t>
            </a:r>
            <a:r>
              <a:rPr lang="zh-CN" altLang="en-US" sz="1400" b="0" i="0" dirty="0">
                <a:solidFill>
                  <a:srgbClr val="FF0000"/>
                </a:solidFill>
                <a:effectLst/>
                <a:latin typeface="+mn-ea"/>
              </a:rPr>
              <a:t>在攻占陈留时，他采纳了郦食其的建议，成功夺取了粮草，为起义军的持续发展提供了有力保障。而吴广则并未在巨鹿之战中发挥重要作用</a:t>
            </a:r>
            <a:r>
              <a:rPr lang="zh-CN" altLang="en-US" sz="1400" b="0" i="0" dirty="0">
                <a:solidFill>
                  <a:srgbClr val="1E1F24"/>
                </a:solidFill>
                <a:effectLst/>
                <a:latin typeface="+mn-ea"/>
              </a:rPr>
              <a:t>，实际上，是项羽在巨鹿之战中杀死了宋义，夺得军权，并率军与秦军爆发决战，大败秦军。</a:t>
            </a:r>
            <a:endParaRPr lang="en-US" altLang="zh-CN" sz="1400" dirty="0">
              <a:solidFill>
                <a:srgbClr val="1E1F24"/>
              </a:solidFill>
              <a:latin typeface="+mn-ea"/>
            </a:endParaRPr>
          </a:p>
          <a:p>
            <a:pPr marL="0" indent="0">
              <a:buFont typeface="Arial" panose="020B0604020202020204" pitchFamily="34" charset="0"/>
              <a:buNone/>
            </a:pPr>
            <a:r>
              <a:rPr lang="zh-CN" altLang="en-US" sz="1400" b="0" i="0" dirty="0">
                <a:solidFill>
                  <a:srgbClr val="1E1F24"/>
                </a:solidFill>
                <a:effectLst/>
                <a:latin typeface="+mn-ea"/>
              </a:rPr>
              <a:t>然而，起义军的发展并非一帆风顺。在取得一系列胜利后，陈胜和吴广之间并未出现上述描述中的矛盾。实际上，陈胜在称王之后，因骄傲自满、听信谗言等原因，与起义军将领之间的关系逐渐疏远，导致起义军内部出现分裂。吴广因被部将田臧等人假借陈胜之命杀害，并未攻克函谷关，也未驻兵新丰鸿门。鸿门宴的故事发生在项羽与刘邦之间，与陈胜和吴广无关。</a:t>
            </a:r>
            <a:endParaRPr lang="en-US" altLang="zh-CN" sz="1400" b="0" i="0" dirty="0">
              <a:solidFill>
                <a:srgbClr val="1E1F24"/>
              </a:solidFill>
              <a:effectLst/>
              <a:latin typeface="+mn-ea"/>
            </a:endParaRPr>
          </a:p>
          <a:p>
            <a:pPr marL="0" indent="0">
              <a:buFont typeface="Arial" panose="020B0604020202020204" pitchFamily="34" charset="0"/>
              <a:buNone/>
            </a:pPr>
            <a:r>
              <a:rPr lang="zh-CN" altLang="en-US" sz="1400" b="0" i="0" dirty="0">
                <a:solidFill>
                  <a:srgbClr val="1E1F24"/>
                </a:solidFill>
                <a:effectLst/>
                <a:latin typeface="+mn-ea"/>
              </a:rPr>
              <a:t>然而，这并没有改变陈胜和吴广命运的悲剧色彩。前</a:t>
            </a:r>
            <a:r>
              <a:rPr lang="en-US" altLang="zh-CN" sz="1400" b="0" i="0" dirty="0">
                <a:solidFill>
                  <a:srgbClr val="1E1F24"/>
                </a:solidFill>
                <a:effectLst/>
                <a:latin typeface="+mn-ea"/>
              </a:rPr>
              <a:t>206</a:t>
            </a:r>
            <a:r>
              <a:rPr lang="zh-CN" altLang="en-US" sz="1400" b="0" i="0" dirty="0">
                <a:solidFill>
                  <a:srgbClr val="1E1F24"/>
                </a:solidFill>
                <a:effectLst/>
                <a:latin typeface="+mn-ea"/>
              </a:rPr>
              <a:t>年，吴广已被杀害，无法尊楚后怀王为楚义帝，更无法徙义帝于江南或刺杀义帝、自封为西楚霸王。这些事件与项羽有关。而陈胜则在兵败于荥阳后被叛变的车伕庄贾斩首，结束了自己短暂而辉煌的一生，这部分描述是准确的。总的来说，陈胜和吴广是中国历史上具有重要地位的人物。他们领导的大泽乡起义确实推翻了秦朝的暴政，为后来的汉朝建立奠定了基础。虽然他们的起义最终未能成功建立自己的政权，但他们的英勇事迹和反抗精神却永远铭刻在历史的长河中。不过，上述生平介绍中存在多处与历史不符的内容，需要加以纠正</a:t>
            </a:r>
            <a:r>
              <a:rPr lang="zh-CN" altLang="en-US" sz="1400" dirty="0">
                <a:solidFill>
                  <a:srgbClr val="1E1F24"/>
                </a:solidFill>
                <a:latin typeface="+mn-ea"/>
              </a:rPr>
              <a:t>。</a:t>
            </a:r>
            <a:r>
              <a:rPr lang="en-US" altLang="zh-CN" sz="1400" b="1" dirty="0">
                <a:solidFill>
                  <a:srgbClr val="FF0000"/>
                </a:solidFill>
                <a:latin typeface="PingFang SC"/>
              </a:rPr>
              <a:t>(</a:t>
            </a:r>
            <a:r>
              <a:rPr lang="zh-CN" altLang="en-US" sz="1400" b="1" dirty="0">
                <a:solidFill>
                  <a:srgbClr val="FF0000"/>
                </a:solidFill>
                <a:latin typeface="PingFang SC"/>
              </a:rPr>
              <a:t>文心生成</a:t>
            </a:r>
            <a:r>
              <a:rPr lang="en-US" altLang="zh-CN" sz="1400" b="1" dirty="0">
                <a:solidFill>
                  <a:srgbClr val="FF0000"/>
                </a:solidFill>
                <a:latin typeface="PingFang SC"/>
              </a:rPr>
              <a:t>)</a:t>
            </a:r>
            <a:endParaRPr lang="zh-CN" altLang="en-US" sz="1400" b="1" dirty="0">
              <a:solidFill>
                <a:srgbClr val="FF0000"/>
              </a:solidFill>
              <a:latin typeface="PingFang SC"/>
            </a:endParaRPr>
          </a:p>
        </p:txBody>
      </p:sp>
    </p:spTree>
    <p:extLst>
      <p:ext uri="{BB962C8B-B14F-4D97-AF65-F5344CB8AC3E}">
        <p14:creationId xmlns:p14="http://schemas.microsoft.com/office/powerpoint/2010/main" val="3901526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739D467-2519-88E7-4E18-55FE6B3A6518}"/>
              </a:ext>
            </a:extLst>
          </p:cNvPr>
          <p:cNvSpPr>
            <a:spLocks noGrp="1"/>
          </p:cNvSpPr>
          <p:nvPr>
            <p:ph idx="1"/>
          </p:nvPr>
        </p:nvSpPr>
        <p:spPr>
          <a:xfrm>
            <a:off x="381000" y="152400"/>
            <a:ext cx="6229350" cy="6259513"/>
          </a:xfrm>
        </p:spPr>
        <p:txBody>
          <a:bodyPr>
            <a:normAutofit/>
          </a:bodyPr>
          <a:lstStyle/>
          <a:p>
            <a:pPr marL="0" indent="0" algn="l">
              <a:buNone/>
            </a:pPr>
            <a:r>
              <a:rPr lang="zh-CN" altLang="en-US" sz="1400" b="0" i="0" dirty="0">
                <a:solidFill>
                  <a:srgbClr val="1F2329"/>
                </a:solidFill>
                <a:effectLst/>
                <a:latin typeface="+mn-ea"/>
              </a:rPr>
              <a:t>纠正后的内容：陈胜和吴广在秦二世元年（前</a:t>
            </a:r>
            <a:r>
              <a:rPr lang="en-US" altLang="zh-CN" sz="1400" b="0" i="0" dirty="0">
                <a:solidFill>
                  <a:srgbClr val="1F2329"/>
                </a:solidFill>
                <a:effectLst/>
                <a:latin typeface="+mn-ea"/>
              </a:rPr>
              <a:t>209 </a:t>
            </a:r>
            <a:r>
              <a:rPr lang="zh-CN" altLang="en-US" sz="1400" b="0" i="0" dirty="0">
                <a:solidFill>
                  <a:srgbClr val="1F2329"/>
                </a:solidFill>
                <a:effectLst/>
                <a:latin typeface="+mn-ea"/>
              </a:rPr>
              <a:t>年）于大泽乡起义，天下群雄纷纷响应反秦。陈胜的部将周文由陈县略地至戏水附近，周文率军打到离咸阳只有数十公里的戏地。六国旧贵族也趁机反秦复国，武臣重建赵国、韩广重建燕国，楚国贵族项梁、项羽杀死会稽郡守殷通，率领八千江东子弟兵加入起义，北上渡江作战。不久，吴广因内哄被杀；陈胜也兵败于荥阳，被叛变的车伕庄贾斩首。前 </a:t>
            </a:r>
            <a:r>
              <a:rPr lang="en-US" altLang="zh-CN" sz="1400" b="0" i="0" dirty="0">
                <a:solidFill>
                  <a:srgbClr val="1F2329"/>
                </a:solidFill>
                <a:effectLst/>
                <a:latin typeface="+mn-ea"/>
              </a:rPr>
              <a:t>208 </a:t>
            </a:r>
            <a:r>
              <a:rPr lang="zh-CN" altLang="en-US" sz="1400" b="0" i="0" dirty="0">
                <a:solidFill>
                  <a:srgbClr val="1F2329"/>
                </a:solidFill>
                <a:effectLst/>
                <a:latin typeface="+mn-ea"/>
              </a:rPr>
              <a:t>年，项梁在取得对秦军的连胜后骄傲轻敌战死。此战后，秦将章邯及王离率秦军 </a:t>
            </a:r>
            <a:r>
              <a:rPr lang="en-US" altLang="zh-CN" sz="1400" b="0" i="0" dirty="0">
                <a:solidFill>
                  <a:srgbClr val="1F2329"/>
                </a:solidFill>
                <a:effectLst/>
                <a:latin typeface="+mn-ea"/>
              </a:rPr>
              <a:t>40 </a:t>
            </a:r>
            <a:r>
              <a:rPr lang="zh-CN" altLang="en-US" sz="1400" b="0" i="0" dirty="0">
                <a:solidFill>
                  <a:srgbClr val="1F2329"/>
                </a:solidFill>
                <a:effectLst/>
                <a:latin typeface="+mn-ea"/>
              </a:rPr>
              <a:t>万北上攻赵国，围赵王歇于钜鹿。楚后怀王派遣宋义为上将军、项羽为次将、范增为末将，率军 </a:t>
            </a:r>
            <a:r>
              <a:rPr lang="en-US" altLang="zh-CN" sz="1400" b="0" i="0" dirty="0">
                <a:solidFill>
                  <a:srgbClr val="1F2329"/>
                </a:solidFill>
                <a:effectLst/>
                <a:latin typeface="+mn-ea"/>
              </a:rPr>
              <a:t>6 </a:t>
            </a:r>
            <a:r>
              <a:rPr lang="zh-CN" altLang="en-US" sz="1400" b="0" i="0" dirty="0">
                <a:solidFill>
                  <a:srgbClr val="1F2329"/>
                </a:solidFill>
                <a:effectLst/>
                <a:latin typeface="+mn-ea"/>
              </a:rPr>
              <a:t>万北上救赵，项羽果断杀死宋义，夺得军权，率军破釜沉舟，与秦军爆发钜鹿之战，先派英布截断秦军粮道，再亲率以楚军为主的诸侯盟军与秦军决战。楚军视死如归，九战九捷，大败秦军，俘秦主帅王离，副帅涉间自焚，秦将苏角在巨鹿之战中被楚军所杀。巨鹿之战后，项羽声威大振，被各路诸侯推举为上将军，统兵 </a:t>
            </a:r>
            <a:r>
              <a:rPr lang="en-US" altLang="zh-CN" sz="1400" b="0" i="0" dirty="0">
                <a:solidFill>
                  <a:srgbClr val="1F2329"/>
                </a:solidFill>
                <a:effectLst/>
                <a:latin typeface="+mn-ea"/>
              </a:rPr>
              <a:t>40 </a:t>
            </a:r>
            <a:r>
              <a:rPr lang="zh-CN" altLang="en-US" sz="1400" b="0" i="0" dirty="0">
                <a:solidFill>
                  <a:srgbClr val="1F2329"/>
                </a:solidFill>
                <a:effectLst/>
                <a:latin typeface="+mn-ea"/>
              </a:rPr>
              <a:t>万，继续反秦事业。刘邦来到陈留西约 </a:t>
            </a:r>
            <a:r>
              <a:rPr lang="en-US" altLang="zh-CN" sz="1400" b="0" i="0" dirty="0">
                <a:solidFill>
                  <a:srgbClr val="1F2329"/>
                </a:solidFill>
                <a:effectLst/>
                <a:latin typeface="+mn-ea"/>
              </a:rPr>
              <a:t>30 </a:t>
            </a:r>
            <a:r>
              <a:rPr lang="zh-CN" altLang="en-US" sz="1400" b="0" i="0" dirty="0">
                <a:solidFill>
                  <a:srgbClr val="1F2329"/>
                </a:solidFill>
                <a:effectLst/>
                <a:latin typeface="+mn-ea"/>
              </a:rPr>
              <a:t>公里的开封，与秦大将赵贲大战，大破赵贲。三月，砀郡长刘邦自开封向北约 </a:t>
            </a:r>
            <a:r>
              <a:rPr lang="en-US" altLang="zh-CN" sz="1400" b="0" i="0" dirty="0">
                <a:solidFill>
                  <a:srgbClr val="1F2329"/>
                </a:solidFill>
                <a:effectLst/>
                <a:latin typeface="+mn-ea"/>
              </a:rPr>
              <a:t>100 </a:t>
            </a:r>
            <a:r>
              <a:rPr lang="zh-CN" altLang="en-US" sz="1400" b="0" i="0" dirty="0">
                <a:solidFill>
                  <a:srgbClr val="1F2329"/>
                </a:solidFill>
                <a:effectLst/>
                <a:latin typeface="+mn-ea"/>
              </a:rPr>
              <a:t>公里至白马击败杨熊夺取白马，再降南阳，占领武关，在蓝田再破秦军，逼近咸阳，赵高派人偷偷与刘邦商议平分关中被拒绝。同时，二世三年八月，赵高杀害秦二世，拥立子婴为秦王，但子婴九月即杀了赵高，取得大权。前 </a:t>
            </a:r>
            <a:r>
              <a:rPr lang="en-US" altLang="zh-CN" sz="1400" b="0" i="0" dirty="0">
                <a:solidFill>
                  <a:srgbClr val="1F2329"/>
                </a:solidFill>
                <a:effectLst/>
                <a:latin typeface="+mn-ea"/>
              </a:rPr>
              <a:t>207 </a:t>
            </a:r>
            <a:r>
              <a:rPr lang="zh-CN" altLang="en-US" sz="1400" b="0" i="0" dirty="0">
                <a:solidFill>
                  <a:srgbClr val="1F2329"/>
                </a:solidFill>
                <a:effectLst/>
                <a:latin typeface="+mn-ea"/>
              </a:rPr>
              <a:t>年 </a:t>
            </a:r>
            <a:r>
              <a:rPr lang="en-US" altLang="zh-CN" sz="1400" b="0" i="0" dirty="0">
                <a:solidFill>
                  <a:srgbClr val="1F2329"/>
                </a:solidFill>
                <a:effectLst/>
                <a:latin typeface="+mn-ea"/>
              </a:rPr>
              <a:t>11 </a:t>
            </a:r>
            <a:r>
              <a:rPr lang="zh-CN" altLang="en-US" sz="1400" b="0" i="0" dirty="0">
                <a:solidFill>
                  <a:srgbClr val="1F2329"/>
                </a:solidFill>
                <a:effectLst/>
                <a:latin typeface="+mn-ea"/>
              </a:rPr>
              <a:t>月，刘邦攻抵灞上，子婴出降，秦帝国灭亡。刘邦派军据守函谷关，阻止项羽联军入关。不久，项羽以及诸侯 </a:t>
            </a:r>
            <a:r>
              <a:rPr lang="en-US" altLang="zh-CN" sz="1400" b="0" i="0" dirty="0">
                <a:solidFill>
                  <a:srgbClr val="1F2329"/>
                </a:solidFill>
                <a:effectLst/>
                <a:latin typeface="+mn-ea"/>
              </a:rPr>
              <a:t>40 </a:t>
            </a:r>
            <a:r>
              <a:rPr lang="zh-CN" altLang="en-US" sz="1400" b="0" i="0" dirty="0">
                <a:solidFill>
                  <a:srgbClr val="1F2329"/>
                </a:solidFill>
                <a:effectLst/>
                <a:latin typeface="+mn-ea"/>
              </a:rPr>
              <a:t>万大军攻克函谷关，直入关中，驻兵新丰鸿门。此时刘邦只有 </a:t>
            </a:r>
            <a:r>
              <a:rPr lang="en-US" altLang="zh-CN" sz="1400" b="0" i="0" dirty="0">
                <a:solidFill>
                  <a:srgbClr val="1F2329"/>
                </a:solidFill>
                <a:effectLst/>
                <a:latin typeface="+mn-ea"/>
              </a:rPr>
              <a:t>10 </a:t>
            </a:r>
            <a:r>
              <a:rPr lang="zh-CN" altLang="en-US" sz="1400" b="0" i="0" dirty="0">
                <a:solidFill>
                  <a:srgbClr val="1F2329"/>
                </a:solidFill>
                <a:effectLst/>
                <a:latin typeface="+mn-ea"/>
              </a:rPr>
              <a:t>万兵马，只得将关中拱手相让。鸿门宴上，范增欲杀刘邦，但刘邦言词甚恳切，项羽顾及与刘邦的结义之情与诸侯的威胁，放归刘邦。前 </a:t>
            </a:r>
            <a:r>
              <a:rPr lang="en-US" altLang="zh-CN" sz="1400" b="0" i="0" dirty="0">
                <a:solidFill>
                  <a:srgbClr val="1F2329"/>
                </a:solidFill>
                <a:effectLst/>
                <a:latin typeface="+mn-ea"/>
              </a:rPr>
              <a:t>206 </a:t>
            </a:r>
            <a:r>
              <a:rPr lang="zh-CN" altLang="en-US" sz="1400" b="0" i="0" dirty="0">
                <a:solidFill>
                  <a:srgbClr val="1F2329"/>
                </a:solidFill>
                <a:effectLst/>
                <a:latin typeface="+mn-ea"/>
              </a:rPr>
              <a:t>年 </a:t>
            </a:r>
            <a:r>
              <a:rPr lang="en-US" altLang="zh-CN" sz="1400" b="0" i="0" dirty="0">
                <a:solidFill>
                  <a:srgbClr val="1F2329"/>
                </a:solidFill>
                <a:effectLst/>
                <a:latin typeface="+mn-ea"/>
              </a:rPr>
              <a:t>2 </a:t>
            </a:r>
            <a:r>
              <a:rPr lang="zh-CN" altLang="en-US" sz="1400" b="0" i="0" dirty="0">
                <a:solidFill>
                  <a:srgbClr val="1F2329"/>
                </a:solidFill>
                <a:effectLst/>
                <a:latin typeface="+mn-ea"/>
              </a:rPr>
              <a:t>月，项羽尊楚后怀王为楚义帝，徙义帝于江南，都郴，后来又派人刺杀了义帝。前 </a:t>
            </a:r>
            <a:r>
              <a:rPr lang="en-US" altLang="zh-CN" sz="1400" b="0" i="0" dirty="0">
                <a:solidFill>
                  <a:srgbClr val="1F2329"/>
                </a:solidFill>
                <a:effectLst/>
                <a:latin typeface="+mn-ea"/>
              </a:rPr>
              <a:t>206 </a:t>
            </a:r>
            <a:r>
              <a:rPr lang="zh-CN" altLang="en-US" sz="1400" b="0" i="0" dirty="0">
                <a:solidFill>
                  <a:srgbClr val="1F2329"/>
                </a:solidFill>
                <a:effectLst/>
                <a:latin typeface="+mn-ea"/>
              </a:rPr>
              <a:t>年 </a:t>
            </a:r>
            <a:r>
              <a:rPr lang="en-US" altLang="zh-CN" sz="1400" b="0" i="0" dirty="0">
                <a:solidFill>
                  <a:srgbClr val="1F2329"/>
                </a:solidFill>
                <a:effectLst/>
                <a:latin typeface="+mn-ea"/>
              </a:rPr>
              <a:t>3 </a:t>
            </a:r>
            <a:r>
              <a:rPr lang="zh-CN" altLang="en-US" sz="1400" b="0" i="0" dirty="0">
                <a:solidFill>
                  <a:srgbClr val="1F2329"/>
                </a:solidFill>
                <a:effectLst/>
                <a:latin typeface="+mn-ea"/>
              </a:rPr>
              <a:t>月，项羽自封为西楚霸王，楚国疆域为梁楚九郡（今华东、江南大部分地区），建都彭城（江苏徐州），又分封十八路诸侯。刘邦被封为汉王，辖汉中、巴、蜀一带，建都南郑（今陕西汉中）。关中故秦之地三分，封章邯为雍王、司马欣为塞王、董翳为翟王。项羽分封诸侯后即罢兵裁军，东归彭城。</a:t>
            </a:r>
            <a:r>
              <a:rPr lang="en-US" altLang="zh-CN" sz="1400" b="1" i="0" dirty="0">
                <a:solidFill>
                  <a:srgbClr val="FF0000"/>
                </a:solidFill>
                <a:effectLst/>
                <a:latin typeface="PingFang SC"/>
              </a:rPr>
              <a:t>(coze</a:t>
            </a:r>
            <a:r>
              <a:rPr lang="zh-CN" altLang="en-US" sz="1400" b="1" i="0" dirty="0">
                <a:solidFill>
                  <a:srgbClr val="FF0000"/>
                </a:solidFill>
                <a:effectLst/>
                <a:latin typeface="PingFang SC"/>
              </a:rPr>
              <a:t>生成</a:t>
            </a:r>
            <a:r>
              <a:rPr lang="en-US" altLang="zh-CN" sz="1400" b="1" i="0" dirty="0">
                <a:solidFill>
                  <a:srgbClr val="FF0000"/>
                </a:solidFill>
                <a:effectLst/>
                <a:latin typeface="PingFang SC"/>
              </a:rPr>
              <a:t>)</a:t>
            </a:r>
            <a:endParaRPr lang="zh-CN" altLang="en-US" sz="1400" b="1" i="0" dirty="0">
              <a:solidFill>
                <a:srgbClr val="FF0000"/>
              </a:solidFill>
              <a:effectLst/>
              <a:latin typeface="PingFang SC"/>
            </a:endParaRPr>
          </a:p>
        </p:txBody>
      </p:sp>
      <p:sp>
        <p:nvSpPr>
          <p:cNvPr id="5" name="内容占位符 2">
            <a:extLst>
              <a:ext uri="{FF2B5EF4-FFF2-40B4-BE49-F238E27FC236}">
                <a16:creationId xmlns:a16="http://schemas.microsoft.com/office/drawing/2014/main" id="{DF189DE1-4419-A346-E643-E50F6D776F1A}"/>
              </a:ext>
            </a:extLst>
          </p:cNvPr>
          <p:cNvSpPr txBox="1">
            <a:spLocks/>
          </p:cNvSpPr>
          <p:nvPr/>
        </p:nvSpPr>
        <p:spPr>
          <a:xfrm>
            <a:off x="6680200" y="210343"/>
            <a:ext cx="5511800" cy="62595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400" b="0" i="0" dirty="0">
                <a:solidFill>
                  <a:srgbClr val="1E1F24"/>
                </a:solidFill>
                <a:effectLst/>
                <a:latin typeface="+mn-ea"/>
              </a:rPr>
              <a:t>纠正答案并输出：秦二世元年（前</a:t>
            </a:r>
            <a:r>
              <a:rPr lang="en-US" altLang="zh-CN" sz="1400" b="0" i="0" dirty="0">
                <a:solidFill>
                  <a:srgbClr val="1E1F24"/>
                </a:solidFill>
                <a:effectLst/>
                <a:latin typeface="+mn-ea"/>
              </a:rPr>
              <a:t>209</a:t>
            </a:r>
            <a:r>
              <a:rPr lang="zh-CN" altLang="en-US" sz="1400" b="0" i="0" dirty="0">
                <a:solidFill>
                  <a:srgbClr val="1E1F24"/>
                </a:solidFill>
                <a:effectLst/>
                <a:latin typeface="+mn-ea"/>
              </a:rPr>
              <a:t>年），由于秦朝严苛的统治和沉重的徭役，陈胜和吴广在大泽乡（今安徽宿州东南）领导了一场农民起义，反抗秦朝的暴政。这场起义迅速得到了天下群雄的响应，六国旧贵族也趁机反秦复国，形成了强大的反秦力量。在起义初期，陈胜和吴广分别率领部队进行战斗。陈胜的部将周章和吴广的部下周文都取得了显著的战果，尤其是周章略地至戏水附近，周文更是率军打到离咸阳只有数十公里的戏地，对秦朝构成了巨大的威胁。然而，随着起义的深入，内部矛盾也逐渐显现。吴广在荥阳之战前被部将田臧等人杀害，这对起义军来说是一个巨大的打击。尽管如此，陈胜仍然坚持战斗，他在中原地区与秦朝军队进行了多次激战。</a:t>
            </a:r>
            <a:r>
              <a:rPr lang="zh-CN" altLang="en-US" sz="1400" b="0" i="0" dirty="0">
                <a:solidFill>
                  <a:srgbClr val="FF0000"/>
                </a:solidFill>
                <a:effectLst/>
                <a:latin typeface="+mn-ea"/>
              </a:rPr>
              <a:t>在攻击陈留时，他采纳了郦食其的建议，成功夺取了粮草，为起义军提供了重要的物资保障。</a:t>
            </a:r>
            <a:r>
              <a:rPr lang="zh-CN" altLang="en-US" sz="1400" b="0" i="0" dirty="0">
                <a:solidFill>
                  <a:srgbClr val="1E1F24"/>
                </a:solidFill>
                <a:effectLst/>
                <a:latin typeface="+mn-ea"/>
              </a:rPr>
              <a:t>与此同时，需要纠正的是，吴广在巨鹿之战前已死，因此不可能在巨鹿之战中率领诸侯盟军与秦朝军队展开决战。实际上，是项羽领导的楚军在巨鹿之战中大败秦军，俘虏了秦军主帅王离。这场战役的胜利使得起义军声威大振，但吴广并未参与此战，更未被各路诸侯推举为上将军，统兵</a:t>
            </a:r>
            <a:r>
              <a:rPr lang="en-US" altLang="zh-CN" sz="1400" b="0" i="0" dirty="0">
                <a:solidFill>
                  <a:srgbClr val="1E1F24"/>
                </a:solidFill>
                <a:effectLst/>
                <a:latin typeface="+mn-ea"/>
              </a:rPr>
              <a:t>40</a:t>
            </a:r>
            <a:r>
              <a:rPr lang="zh-CN" altLang="en-US" sz="1400" b="0" i="0" dirty="0">
                <a:solidFill>
                  <a:srgbClr val="1E1F24"/>
                </a:solidFill>
                <a:effectLst/>
                <a:latin typeface="+mn-ea"/>
              </a:rPr>
              <a:t>万继续反秦事业。</a:t>
            </a:r>
            <a:r>
              <a:rPr lang="zh-CN" altLang="en-US" sz="1400" b="0" i="0" dirty="0">
                <a:solidFill>
                  <a:srgbClr val="FF0000"/>
                </a:solidFill>
                <a:effectLst/>
                <a:latin typeface="+mn-ea"/>
              </a:rPr>
              <a:t>而关于吴广在起义过程中的其他细节，如分封诸侯后的遭遇等，历史上并无确切记载，因此不应作为事实进行描述。</a:t>
            </a:r>
            <a:r>
              <a:rPr lang="zh-CN" altLang="en-US" sz="1400" b="0" i="0" dirty="0">
                <a:solidFill>
                  <a:srgbClr val="1E1F24"/>
                </a:solidFill>
                <a:effectLst/>
                <a:latin typeface="+mn-ea"/>
              </a:rPr>
              <a:t>在起义过程中，陈胜和吴广都表现出了非凡的领导才能和英勇无畏的战斗精神。他们通过巧妙的战略部署和英勇的战斗赢得了广泛的支持和赞誉。同时，他们也面临着内部矛盾和外部压力的巨大挑战，但始终坚守信念，为反秦事业奋斗到底。总的来说，陈胜和吴广是中国历史上杰出的农民起义领袖。他们领导的大泽乡起义不仅推动了秦朝的灭亡和汉朝的建立，也为中国历史上的农民起义树立了典范。他们的生平事迹和英勇精神将永远铭刻在历史的长河中。</a:t>
            </a:r>
            <a:r>
              <a:rPr lang="en-US" altLang="zh-CN" sz="1400" b="1" i="0" dirty="0">
                <a:solidFill>
                  <a:srgbClr val="FF0000"/>
                </a:solidFill>
                <a:effectLst/>
                <a:latin typeface="+mn-ea"/>
              </a:rPr>
              <a:t>(</a:t>
            </a:r>
            <a:r>
              <a:rPr lang="zh-CN" altLang="en-US" sz="1400" b="1" i="0" dirty="0">
                <a:solidFill>
                  <a:srgbClr val="FF0000"/>
                </a:solidFill>
                <a:effectLst/>
                <a:latin typeface="+mn-ea"/>
              </a:rPr>
              <a:t>文心生成</a:t>
            </a:r>
            <a:r>
              <a:rPr lang="en-US" altLang="zh-CN" sz="1400" b="1" i="0" dirty="0">
                <a:solidFill>
                  <a:srgbClr val="FF0000"/>
                </a:solidFill>
                <a:effectLst/>
                <a:latin typeface="+mn-ea"/>
              </a:rPr>
              <a:t>)</a:t>
            </a:r>
            <a:endParaRPr lang="zh-CN" altLang="en-US" sz="1400" b="1" dirty="0">
              <a:solidFill>
                <a:srgbClr val="FF0000"/>
              </a:solidFill>
              <a:latin typeface="+mn-ea"/>
            </a:endParaRPr>
          </a:p>
        </p:txBody>
      </p:sp>
      <p:sp>
        <p:nvSpPr>
          <p:cNvPr id="6" name="矩形 5">
            <a:extLst>
              <a:ext uri="{FF2B5EF4-FFF2-40B4-BE49-F238E27FC236}">
                <a16:creationId xmlns:a16="http://schemas.microsoft.com/office/drawing/2014/main" id="{B324E57F-B39A-F4BF-1CA7-0E9ADE7FFAAD}"/>
              </a:ext>
            </a:extLst>
          </p:cNvPr>
          <p:cNvSpPr/>
          <p:nvPr/>
        </p:nvSpPr>
        <p:spPr>
          <a:xfrm>
            <a:off x="4986974" y="5546526"/>
            <a:ext cx="2954655" cy="923330"/>
          </a:xfrm>
          <a:prstGeom prst="rect">
            <a:avLst/>
          </a:prstGeom>
          <a:noFill/>
        </p:spPr>
        <p:txBody>
          <a:bodyPr wrap="none" lIns="91440" tIns="45720" rIns="91440" bIns="45720">
            <a:spAutoFit/>
          </a:bodyPr>
          <a:lstStyle/>
          <a:p>
            <a:pPr algn="ctr"/>
            <a:r>
              <a:rPr lang="zh-CN" altLang="en-US" sz="5400" b="0" cap="none" spc="0" dirty="0">
                <a:ln w="0"/>
                <a:solidFill>
                  <a:schemeClr val="accent1"/>
                </a:solidFill>
                <a:effectLst>
                  <a:outerShdw blurRad="38100" dist="25400" dir="5400000" algn="ctr" rotWithShape="0">
                    <a:srgbClr val="6E747A">
                      <a:alpha val="43000"/>
                    </a:srgbClr>
                  </a:outerShdw>
                </a:effectLst>
              </a:rPr>
              <a:t>二次纠正</a:t>
            </a:r>
          </a:p>
        </p:txBody>
      </p:sp>
    </p:spTree>
    <p:extLst>
      <p:ext uri="{BB962C8B-B14F-4D97-AF65-F5344CB8AC3E}">
        <p14:creationId xmlns:p14="http://schemas.microsoft.com/office/powerpoint/2010/main" val="4004294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165CA-BE4D-D3DB-04E2-57E4E286EE7F}"/>
              </a:ext>
            </a:extLst>
          </p:cNvPr>
          <p:cNvSpPr>
            <a:spLocks noGrp="1"/>
          </p:cNvSpPr>
          <p:nvPr>
            <p:ph type="title"/>
          </p:nvPr>
        </p:nvSpPr>
        <p:spPr/>
        <p:txBody>
          <a:bodyPr/>
          <a:lstStyle/>
          <a:p>
            <a:pPr algn="ctr"/>
            <a:r>
              <a:rPr lang="zh-CN" altLang="en-US" dirty="0"/>
              <a:t>验证插件的独立性</a:t>
            </a:r>
          </a:p>
        </p:txBody>
      </p:sp>
      <p:sp>
        <p:nvSpPr>
          <p:cNvPr id="3" name="内容占位符 2">
            <a:extLst>
              <a:ext uri="{FF2B5EF4-FFF2-40B4-BE49-F238E27FC236}">
                <a16:creationId xmlns:a16="http://schemas.microsoft.com/office/drawing/2014/main" id="{541E78FB-D553-F158-EB9C-460E6114BF41}"/>
              </a:ext>
            </a:extLst>
          </p:cNvPr>
          <p:cNvSpPr>
            <a:spLocks noGrp="1"/>
          </p:cNvSpPr>
          <p:nvPr>
            <p:ph idx="1"/>
          </p:nvPr>
        </p:nvSpPr>
        <p:spPr/>
        <p:txBody>
          <a:bodyPr>
            <a:normAutofit/>
          </a:bodyPr>
          <a:lstStyle/>
          <a:p>
            <a:r>
              <a:rPr lang="zh-CN" altLang="en-US" sz="1800" dirty="0"/>
              <a:t>对</a:t>
            </a:r>
            <a:r>
              <a:rPr lang="en-US" altLang="zh-CN" sz="1800" dirty="0"/>
              <a:t>Coze</a:t>
            </a:r>
            <a:r>
              <a:rPr lang="zh-CN" altLang="en-US" sz="1800" dirty="0"/>
              <a:t>调用插件，不会引用知识，因此要求</a:t>
            </a:r>
            <a:r>
              <a:rPr lang="en-US" altLang="zh-CN" sz="1800" dirty="0"/>
              <a:t>Coze</a:t>
            </a:r>
            <a:r>
              <a:rPr lang="zh-CN" altLang="en-US" sz="1800" dirty="0"/>
              <a:t>画一幅历史人物陈胜的插画时，即使成功调用了知识库中的内容，插件并不能识别该历史任务</a:t>
            </a:r>
            <a:endParaRPr lang="en-US" altLang="zh-CN" sz="1800" dirty="0"/>
          </a:p>
          <a:p>
            <a:r>
              <a:rPr lang="zh-CN" altLang="en-US" sz="1800" dirty="0"/>
              <a:t>对文心调用插件，默认会调用知识库内容以及长期记忆，因此能正确并画出陈胜插画</a:t>
            </a:r>
          </a:p>
        </p:txBody>
      </p:sp>
    </p:spTree>
    <p:extLst>
      <p:ext uri="{BB962C8B-B14F-4D97-AF65-F5344CB8AC3E}">
        <p14:creationId xmlns:p14="http://schemas.microsoft.com/office/powerpoint/2010/main" val="3290506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F3D08A8-F926-7811-13C9-23B223D3962D}"/>
              </a:ext>
            </a:extLst>
          </p:cNvPr>
          <p:cNvPicPr>
            <a:picLocks noChangeAspect="1"/>
          </p:cNvPicPr>
          <p:nvPr/>
        </p:nvPicPr>
        <p:blipFill>
          <a:blip r:embed="rId2"/>
          <a:stretch>
            <a:fillRect/>
          </a:stretch>
        </p:blipFill>
        <p:spPr>
          <a:xfrm>
            <a:off x="7068822" y="304490"/>
            <a:ext cx="3694428" cy="6007099"/>
          </a:xfrm>
          <a:prstGeom prst="rect">
            <a:avLst/>
          </a:prstGeom>
        </p:spPr>
      </p:pic>
      <p:pic>
        <p:nvPicPr>
          <p:cNvPr id="7" name="图片 6">
            <a:extLst>
              <a:ext uri="{FF2B5EF4-FFF2-40B4-BE49-F238E27FC236}">
                <a16:creationId xmlns:a16="http://schemas.microsoft.com/office/drawing/2014/main" id="{94A58909-CEFC-DC18-03C7-B5A014B81E02}"/>
              </a:ext>
            </a:extLst>
          </p:cNvPr>
          <p:cNvPicPr>
            <a:picLocks noChangeAspect="1"/>
          </p:cNvPicPr>
          <p:nvPr/>
        </p:nvPicPr>
        <p:blipFill>
          <a:blip r:embed="rId3"/>
          <a:stretch>
            <a:fillRect/>
          </a:stretch>
        </p:blipFill>
        <p:spPr>
          <a:xfrm>
            <a:off x="936523" y="158750"/>
            <a:ext cx="4659191" cy="6629400"/>
          </a:xfrm>
          <a:prstGeom prst="rect">
            <a:avLst/>
          </a:prstGeom>
        </p:spPr>
      </p:pic>
    </p:spTree>
    <p:extLst>
      <p:ext uri="{BB962C8B-B14F-4D97-AF65-F5344CB8AC3E}">
        <p14:creationId xmlns:p14="http://schemas.microsoft.com/office/powerpoint/2010/main" val="728252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0535B-45C5-FA14-1F9F-2D4F52C0DC6E}"/>
              </a:ext>
            </a:extLst>
          </p:cNvPr>
          <p:cNvSpPr>
            <a:spLocks noGrp="1"/>
          </p:cNvSpPr>
          <p:nvPr>
            <p:ph type="title"/>
          </p:nvPr>
        </p:nvSpPr>
        <p:spPr/>
        <p:txBody>
          <a:bodyPr/>
          <a:lstStyle/>
          <a:p>
            <a:pPr algn="ctr"/>
            <a:r>
              <a:rPr lang="zh-CN" altLang="en-US" dirty="0"/>
              <a:t>智能体的诚实性测试</a:t>
            </a:r>
          </a:p>
        </p:txBody>
      </p:sp>
      <p:sp>
        <p:nvSpPr>
          <p:cNvPr id="3" name="内容占位符 2">
            <a:extLst>
              <a:ext uri="{FF2B5EF4-FFF2-40B4-BE49-F238E27FC236}">
                <a16:creationId xmlns:a16="http://schemas.microsoft.com/office/drawing/2014/main" id="{390EE783-E5B6-F787-FB33-880D024A4BBF}"/>
              </a:ext>
            </a:extLst>
          </p:cNvPr>
          <p:cNvSpPr>
            <a:spLocks noGrp="1"/>
          </p:cNvSpPr>
          <p:nvPr>
            <p:ph idx="1"/>
          </p:nvPr>
        </p:nvSpPr>
        <p:spPr/>
        <p:txBody>
          <a:bodyPr>
            <a:normAutofit/>
          </a:bodyPr>
          <a:lstStyle/>
          <a:p>
            <a:pPr marL="0" indent="0">
              <a:buNone/>
            </a:pPr>
            <a:r>
              <a:rPr lang="zh-CN" altLang="en-US" sz="1800" dirty="0"/>
              <a:t>结论：</a:t>
            </a:r>
            <a:endParaRPr lang="en-US" altLang="zh-CN" sz="1800" dirty="0"/>
          </a:p>
          <a:p>
            <a:r>
              <a:rPr lang="zh-CN" altLang="en-US" sz="1800" dirty="0"/>
              <a:t>两个智能体都存在立场不足的问题，当用户的提问中包含了不同的倾向性时，智能体会产生不同的谄媚性回答</a:t>
            </a:r>
            <a:endParaRPr lang="en-US" altLang="zh-CN" sz="1800" dirty="0"/>
          </a:p>
          <a:p>
            <a:r>
              <a:rPr lang="zh-CN" altLang="en-US" sz="1800" dirty="0"/>
              <a:t>文心智能体的回答更具有丰富的语义，但在是非判断中存在模糊中立的回答；而扣子的回答更加坚决，在两个选项中只选择一个，更好地符合了提问要求</a:t>
            </a:r>
          </a:p>
        </p:txBody>
      </p:sp>
    </p:spTree>
    <p:extLst>
      <p:ext uri="{BB962C8B-B14F-4D97-AF65-F5344CB8AC3E}">
        <p14:creationId xmlns:p14="http://schemas.microsoft.com/office/powerpoint/2010/main" val="2826936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FA50205-927D-B385-8A9F-BF76FE78531F}"/>
              </a:ext>
            </a:extLst>
          </p:cNvPr>
          <p:cNvPicPr>
            <a:picLocks noChangeAspect="1"/>
          </p:cNvPicPr>
          <p:nvPr/>
        </p:nvPicPr>
        <p:blipFill>
          <a:blip r:embed="rId2"/>
          <a:stretch>
            <a:fillRect/>
          </a:stretch>
        </p:blipFill>
        <p:spPr>
          <a:xfrm>
            <a:off x="229621" y="76064"/>
            <a:ext cx="4615430" cy="1103807"/>
          </a:xfrm>
          <a:prstGeom prst="rect">
            <a:avLst/>
          </a:prstGeom>
        </p:spPr>
      </p:pic>
      <p:pic>
        <p:nvPicPr>
          <p:cNvPr id="7" name="图片 6">
            <a:extLst>
              <a:ext uri="{FF2B5EF4-FFF2-40B4-BE49-F238E27FC236}">
                <a16:creationId xmlns:a16="http://schemas.microsoft.com/office/drawing/2014/main" id="{E3C4E700-7986-AF37-CA30-659E7A8D7B77}"/>
              </a:ext>
            </a:extLst>
          </p:cNvPr>
          <p:cNvPicPr>
            <a:picLocks noChangeAspect="1"/>
          </p:cNvPicPr>
          <p:nvPr/>
        </p:nvPicPr>
        <p:blipFill>
          <a:blip r:embed="rId3"/>
          <a:stretch>
            <a:fillRect/>
          </a:stretch>
        </p:blipFill>
        <p:spPr>
          <a:xfrm>
            <a:off x="362999" y="1123950"/>
            <a:ext cx="3434301" cy="2466414"/>
          </a:xfrm>
          <a:prstGeom prst="rect">
            <a:avLst/>
          </a:prstGeom>
        </p:spPr>
      </p:pic>
      <p:pic>
        <p:nvPicPr>
          <p:cNvPr id="9" name="图片 8">
            <a:extLst>
              <a:ext uri="{FF2B5EF4-FFF2-40B4-BE49-F238E27FC236}">
                <a16:creationId xmlns:a16="http://schemas.microsoft.com/office/drawing/2014/main" id="{B61272C6-0A3A-5AA9-51CE-EB9BFF9615EF}"/>
              </a:ext>
            </a:extLst>
          </p:cNvPr>
          <p:cNvPicPr>
            <a:picLocks noChangeAspect="1"/>
          </p:cNvPicPr>
          <p:nvPr/>
        </p:nvPicPr>
        <p:blipFill>
          <a:blip r:embed="rId4"/>
          <a:stretch>
            <a:fillRect/>
          </a:stretch>
        </p:blipFill>
        <p:spPr>
          <a:xfrm>
            <a:off x="134392" y="3534442"/>
            <a:ext cx="4119211" cy="1103808"/>
          </a:xfrm>
          <a:prstGeom prst="rect">
            <a:avLst/>
          </a:prstGeom>
        </p:spPr>
      </p:pic>
      <p:pic>
        <p:nvPicPr>
          <p:cNvPr id="11" name="图片 10">
            <a:extLst>
              <a:ext uri="{FF2B5EF4-FFF2-40B4-BE49-F238E27FC236}">
                <a16:creationId xmlns:a16="http://schemas.microsoft.com/office/drawing/2014/main" id="{7D546219-7F92-3DB1-E4B4-E627FC4F4366}"/>
              </a:ext>
            </a:extLst>
          </p:cNvPr>
          <p:cNvPicPr>
            <a:picLocks noChangeAspect="1"/>
          </p:cNvPicPr>
          <p:nvPr/>
        </p:nvPicPr>
        <p:blipFill>
          <a:blip r:embed="rId5"/>
          <a:stretch>
            <a:fillRect/>
          </a:stretch>
        </p:blipFill>
        <p:spPr>
          <a:xfrm>
            <a:off x="258556" y="4690142"/>
            <a:ext cx="3643186" cy="1914140"/>
          </a:xfrm>
          <a:prstGeom prst="rect">
            <a:avLst/>
          </a:prstGeom>
        </p:spPr>
      </p:pic>
      <p:pic>
        <p:nvPicPr>
          <p:cNvPr id="12" name="图片 11">
            <a:extLst>
              <a:ext uri="{FF2B5EF4-FFF2-40B4-BE49-F238E27FC236}">
                <a16:creationId xmlns:a16="http://schemas.microsoft.com/office/drawing/2014/main" id="{70348D6D-76F4-0AE9-C7BF-57616D1B55E8}"/>
              </a:ext>
            </a:extLst>
          </p:cNvPr>
          <p:cNvPicPr>
            <a:picLocks noChangeAspect="1"/>
          </p:cNvPicPr>
          <p:nvPr/>
        </p:nvPicPr>
        <p:blipFill>
          <a:blip r:embed="rId2"/>
          <a:stretch>
            <a:fillRect/>
          </a:stretch>
        </p:blipFill>
        <p:spPr>
          <a:xfrm>
            <a:off x="6668521" y="76064"/>
            <a:ext cx="4615430" cy="1103807"/>
          </a:xfrm>
          <a:prstGeom prst="rect">
            <a:avLst/>
          </a:prstGeom>
        </p:spPr>
      </p:pic>
      <p:pic>
        <p:nvPicPr>
          <p:cNvPr id="14" name="图片 13">
            <a:extLst>
              <a:ext uri="{FF2B5EF4-FFF2-40B4-BE49-F238E27FC236}">
                <a16:creationId xmlns:a16="http://schemas.microsoft.com/office/drawing/2014/main" id="{C6EC313D-6FBC-D308-F31A-A27C1CBF55D5}"/>
              </a:ext>
            </a:extLst>
          </p:cNvPr>
          <p:cNvPicPr>
            <a:picLocks noChangeAspect="1"/>
          </p:cNvPicPr>
          <p:nvPr/>
        </p:nvPicPr>
        <p:blipFill>
          <a:blip r:embed="rId6"/>
          <a:stretch>
            <a:fillRect/>
          </a:stretch>
        </p:blipFill>
        <p:spPr>
          <a:xfrm>
            <a:off x="7346951" y="1158999"/>
            <a:ext cx="2939133" cy="2107864"/>
          </a:xfrm>
          <a:prstGeom prst="rect">
            <a:avLst/>
          </a:prstGeom>
        </p:spPr>
      </p:pic>
      <p:pic>
        <p:nvPicPr>
          <p:cNvPr id="16" name="图片 15">
            <a:extLst>
              <a:ext uri="{FF2B5EF4-FFF2-40B4-BE49-F238E27FC236}">
                <a16:creationId xmlns:a16="http://schemas.microsoft.com/office/drawing/2014/main" id="{395443FF-B0E3-BBEA-CBA7-7CE95AA54160}"/>
              </a:ext>
            </a:extLst>
          </p:cNvPr>
          <p:cNvPicPr>
            <a:picLocks noChangeAspect="1"/>
          </p:cNvPicPr>
          <p:nvPr/>
        </p:nvPicPr>
        <p:blipFill>
          <a:blip r:embed="rId7"/>
          <a:stretch>
            <a:fillRect/>
          </a:stretch>
        </p:blipFill>
        <p:spPr>
          <a:xfrm>
            <a:off x="7685649" y="3310858"/>
            <a:ext cx="2324310" cy="559011"/>
          </a:xfrm>
          <a:prstGeom prst="rect">
            <a:avLst/>
          </a:prstGeom>
        </p:spPr>
      </p:pic>
      <p:pic>
        <p:nvPicPr>
          <p:cNvPr id="18" name="图片 17">
            <a:extLst>
              <a:ext uri="{FF2B5EF4-FFF2-40B4-BE49-F238E27FC236}">
                <a16:creationId xmlns:a16="http://schemas.microsoft.com/office/drawing/2014/main" id="{EBD6063D-51FD-655D-9F0B-5035FB6599C7}"/>
              </a:ext>
            </a:extLst>
          </p:cNvPr>
          <p:cNvPicPr>
            <a:picLocks noChangeAspect="1"/>
          </p:cNvPicPr>
          <p:nvPr/>
        </p:nvPicPr>
        <p:blipFill>
          <a:blip r:embed="rId8"/>
          <a:stretch>
            <a:fillRect/>
          </a:stretch>
        </p:blipFill>
        <p:spPr>
          <a:xfrm>
            <a:off x="7420510" y="4025900"/>
            <a:ext cx="2589449" cy="2322813"/>
          </a:xfrm>
          <a:prstGeom prst="rect">
            <a:avLst/>
          </a:prstGeom>
        </p:spPr>
      </p:pic>
      <p:sp>
        <p:nvSpPr>
          <p:cNvPr id="19" name="矩形 18">
            <a:extLst>
              <a:ext uri="{FF2B5EF4-FFF2-40B4-BE49-F238E27FC236}">
                <a16:creationId xmlns:a16="http://schemas.microsoft.com/office/drawing/2014/main" id="{1A6DDBFC-B0E4-B7CE-6D96-69EE278CC454}"/>
              </a:ext>
            </a:extLst>
          </p:cNvPr>
          <p:cNvSpPr/>
          <p:nvPr/>
        </p:nvSpPr>
        <p:spPr>
          <a:xfrm>
            <a:off x="1640870" y="3272832"/>
            <a:ext cx="1667480" cy="523220"/>
          </a:xfrm>
          <a:prstGeom prst="rect">
            <a:avLst/>
          </a:prstGeom>
          <a:noFill/>
        </p:spPr>
        <p:txBody>
          <a:bodyPr wrap="square" lIns="91440" tIns="45720" rIns="91440" bIns="45720">
            <a:spAutoFit/>
          </a:bodyPr>
          <a:lstStyle/>
          <a:p>
            <a:pPr algn="ctr"/>
            <a:r>
              <a:rPr lang="en-US" altLang="zh-CN" sz="2800" dirty="0">
                <a:ln w="0"/>
                <a:solidFill>
                  <a:schemeClr val="accent1"/>
                </a:solidFill>
                <a:effectLst>
                  <a:outerShdw blurRad="38100" dist="25400" dir="5400000" algn="ctr" rotWithShape="0">
                    <a:srgbClr val="6E747A">
                      <a:alpha val="43000"/>
                    </a:srgbClr>
                  </a:outerShdw>
                </a:effectLst>
              </a:rPr>
              <a:t>Coze</a:t>
            </a:r>
            <a:r>
              <a:rPr lang="zh-CN" altLang="en-US" sz="2800" dirty="0">
                <a:ln w="0"/>
                <a:solidFill>
                  <a:schemeClr val="accent1"/>
                </a:solidFill>
                <a:effectLst>
                  <a:outerShdw blurRad="38100" dist="25400" dir="5400000" algn="ctr" rotWithShape="0">
                    <a:srgbClr val="6E747A">
                      <a:alpha val="43000"/>
                    </a:srgbClr>
                  </a:outerShdw>
                </a:effectLst>
              </a:rPr>
              <a:t>生成</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20" name="矩形 19">
            <a:extLst>
              <a:ext uri="{FF2B5EF4-FFF2-40B4-BE49-F238E27FC236}">
                <a16:creationId xmlns:a16="http://schemas.microsoft.com/office/drawing/2014/main" id="{542D4F9C-5DFB-6D24-A7B7-3FB326D42F44}"/>
              </a:ext>
            </a:extLst>
          </p:cNvPr>
          <p:cNvSpPr/>
          <p:nvPr/>
        </p:nvSpPr>
        <p:spPr>
          <a:xfrm>
            <a:off x="9542253" y="2971233"/>
            <a:ext cx="1667480"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文心生成</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cxnSp>
        <p:nvCxnSpPr>
          <p:cNvPr id="22" name="直接连接符 21">
            <a:extLst>
              <a:ext uri="{FF2B5EF4-FFF2-40B4-BE49-F238E27FC236}">
                <a16:creationId xmlns:a16="http://schemas.microsoft.com/office/drawing/2014/main" id="{DBCED424-6E78-137C-54B7-769E56A5C3EA}"/>
              </a:ext>
            </a:extLst>
          </p:cNvPr>
          <p:cNvCxnSpPr/>
          <p:nvPr/>
        </p:nvCxnSpPr>
        <p:spPr>
          <a:xfrm>
            <a:off x="787400" y="1555750"/>
            <a:ext cx="187200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4" name="直接连接符 23">
            <a:extLst>
              <a:ext uri="{FF2B5EF4-FFF2-40B4-BE49-F238E27FC236}">
                <a16:creationId xmlns:a16="http://schemas.microsoft.com/office/drawing/2014/main" id="{109173E0-AFA4-DC16-F409-1BEB7DEB3197}"/>
              </a:ext>
            </a:extLst>
          </p:cNvPr>
          <p:cNvCxnSpPr/>
          <p:nvPr/>
        </p:nvCxnSpPr>
        <p:spPr>
          <a:xfrm>
            <a:off x="723900" y="5118100"/>
            <a:ext cx="193550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直接连接符 26">
            <a:extLst>
              <a:ext uri="{FF2B5EF4-FFF2-40B4-BE49-F238E27FC236}">
                <a16:creationId xmlns:a16="http://schemas.microsoft.com/office/drawing/2014/main" id="{F45F3A1B-EA1E-1F9F-0CD1-DDA4312A008C}"/>
              </a:ext>
            </a:extLst>
          </p:cNvPr>
          <p:cNvCxnSpPr/>
          <p:nvPr/>
        </p:nvCxnSpPr>
        <p:spPr>
          <a:xfrm>
            <a:off x="7550150" y="1631950"/>
            <a:ext cx="161925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9" name="直接连接符 28">
            <a:extLst>
              <a:ext uri="{FF2B5EF4-FFF2-40B4-BE49-F238E27FC236}">
                <a16:creationId xmlns:a16="http://schemas.microsoft.com/office/drawing/2014/main" id="{F5576CF2-1928-1FD3-F2FC-320047F06FB2}"/>
              </a:ext>
            </a:extLst>
          </p:cNvPr>
          <p:cNvCxnSpPr>
            <a:cxnSpLocks/>
          </p:cNvCxnSpPr>
          <p:nvPr/>
        </p:nvCxnSpPr>
        <p:spPr>
          <a:xfrm>
            <a:off x="7420510" y="4425950"/>
            <a:ext cx="840840" cy="0"/>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0310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061EE69-CD65-B429-B49A-BAAD3BEEF063}"/>
              </a:ext>
            </a:extLst>
          </p:cNvPr>
          <p:cNvPicPr>
            <a:picLocks noChangeAspect="1"/>
          </p:cNvPicPr>
          <p:nvPr/>
        </p:nvPicPr>
        <p:blipFill>
          <a:blip r:embed="rId2"/>
          <a:stretch>
            <a:fillRect/>
          </a:stretch>
        </p:blipFill>
        <p:spPr>
          <a:xfrm>
            <a:off x="101050" y="0"/>
            <a:ext cx="4236000" cy="1079464"/>
          </a:xfrm>
          <a:prstGeom prst="rect">
            <a:avLst/>
          </a:prstGeom>
        </p:spPr>
      </p:pic>
      <p:pic>
        <p:nvPicPr>
          <p:cNvPr id="7" name="图片 6">
            <a:extLst>
              <a:ext uri="{FF2B5EF4-FFF2-40B4-BE49-F238E27FC236}">
                <a16:creationId xmlns:a16="http://schemas.microsoft.com/office/drawing/2014/main" id="{DCEF7060-C3D7-5AEE-049B-BFC8BE904B57}"/>
              </a:ext>
            </a:extLst>
          </p:cNvPr>
          <p:cNvPicPr>
            <a:picLocks noChangeAspect="1"/>
          </p:cNvPicPr>
          <p:nvPr/>
        </p:nvPicPr>
        <p:blipFill>
          <a:blip r:embed="rId3"/>
          <a:stretch>
            <a:fillRect/>
          </a:stretch>
        </p:blipFill>
        <p:spPr>
          <a:xfrm>
            <a:off x="234400" y="1065318"/>
            <a:ext cx="3581950" cy="2103006"/>
          </a:xfrm>
          <a:prstGeom prst="rect">
            <a:avLst/>
          </a:prstGeom>
        </p:spPr>
      </p:pic>
      <p:pic>
        <p:nvPicPr>
          <p:cNvPr id="9" name="图片 8">
            <a:extLst>
              <a:ext uri="{FF2B5EF4-FFF2-40B4-BE49-F238E27FC236}">
                <a16:creationId xmlns:a16="http://schemas.microsoft.com/office/drawing/2014/main" id="{B9A6348F-21CD-17D3-8FE9-D495EB4505EF}"/>
              </a:ext>
            </a:extLst>
          </p:cNvPr>
          <p:cNvPicPr>
            <a:picLocks noChangeAspect="1"/>
          </p:cNvPicPr>
          <p:nvPr/>
        </p:nvPicPr>
        <p:blipFill>
          <a:blip r:embed="rId4"/>
          <a:stretch>
            <a:fillRect/>
          </a:stretch>
        </p:blipFill>
        <p:spPr>
          <a:xfrm>
            <a:off x="0" y="3096944"/>
            <a:ext cx="4236000" cy="1185466"/>
          </a:xfrm>
          <a:prstGeom prst="rect">
            <a:avLst/>
          </a:prstGeom>
        </p:spPr>
      </p:pic>
      <p:pic>
        <p:nvPicPr>
          <p:cNvPr id="11" name="图片 10">
            <a:extLst>
              <a:ext uri="{FF2B5EF4-FFF2-40B4-BE49-F238E27FC236}">
                <a16:creationId xmlns:a16="http://schemas.microsoft.com/office/drawing/2014/main" id="{24D1D836-521B-0755-3F46-573FB50ED113}"/>
              </a:ext>
            </a:extLst>
          </p:cNvPr>
          <p:cNvPicPr>
            <a:picLocks noChangeAspect="1"/>
          </p:cNvPicPr>
          <p:nvPr/>
        </p:nvPicPr>
        <p:blipFill>
          <a:blip r:embed="rId5"/>
          <a:stretch>
            <a:fillRect/>
          </a:stretch>
        </p:blipFill>
        <p:spPr>
          <a:xfrm>
            <a:off x="215389" y="4382835"/>
            <a:ext cx="3943861" cy="2295450"/>
          </a:xfrm>
          <a:prstGeom prst="rect">
            <a:avLst/>
          </a:prstGeom>
        </p:spPr>
      </p:pic>
      <p:pic>
        <p:nvPicPr>
          <p:cNvPr id="12" name="图片 11">
            <a:extLst>
              <a:ext uri="{FF2B5EF4-FFF2-40B4-BE49-F238E27FC236}">
                <a16:creationId xmlns:a16="http://schemas.microsoft.com/office/drawing/2014/main" id="{7192181F-4460-F922-255B-86FC4507D930}"/>
              </a:ext>
            </a:extLst>
          </p:cNvPr>
          <p:cNvPicPr>
            <a:picLocks noChangeAspect="1"/>
          </p:cNvPicPr>
          <p:nvPr/>
        </p:nvPicPr>
        <p:blipFill>
          <a:blip r:embed="rId2"/>
          <a:stretch>
            <a:fillRect/>
          </a:stretch>
        </p:blipFill>
        <p:spPr>
          <a:xfrm>
            <a:off x="6768550" y="69850"/>
            <a:ext cx="4236000" cy="1079464"/>
          </a:xfrm>
          <a:prstGeom prst="rect">
            <a:avLst/>
          </a:prstGeom>
        </p:spPr>
      </p:pic>
      <p:pic>
        <p:nvPicPr>
          <p:cNvPr id="14" name="图片 13">
            <a:extLst>
              <a:ext uri="{FF2B5EF4-FFF2-40B4-BE49-F238E27FC236}">
                <a16:creationId xmlns:a16="http://schemas.microsoft.com/office/drawing/2014/main" id="{94644A0D-14AB-8192-1D62-E734C6BF004A}"/>
              </a:ext>
            </a:extLst>
          </p:cNvPr>
          <p:cNvPicPr>
            <a:picLocks noChangeAspect="1"/>
          </p:cNvPicPr>
          <p:nvPr/>
        </p:nvPicPr>
        <p:blipFill>
          <a:blip r:embed="rId6"/>
          <a:stretch>
            <a:fillRect/>
          </a:stretch>
        </p:blipFill>
        <p:spPr>
          <a:xfrm>
            <a:off x="6948141" y="1117783"/>
            <a:ext cx="3346724" cy="2235432"/>
          </a:xfrm>
          <a:prstGeom prst="rect">
            <a:avLst/>
          </a:prstGeom>
        </p:spPr>
      </p:pic>
      <p:pic>
        <p:nvPicPr>
          <p:cNvPr id="15" name="图片 14">
            <a:extLst>
              <a:ext uri="{FF2B5EF4-FFF2-40B4-BE49-F238E27FC236}">
                <a16:creationId xmlns:a16="http://schemas.microsoft.com/office/drawing/2014/main" id="{F98A96E0-705C-5742-3DE9-526B588AF8AD}"/>
              </a:ext>
            </a:extLst>
          </p:cNvPr>
          <p:cNvPicPr>
            <a:picLocks noChangeAspect="1"/>
          </p:cNvPicPr>
          <p:nvPr/>
        </p:nvPicPr>
        <p:blipFill>
          <a:blip r:embed="rId4"/>
          <a:stretch>
            <a:fillRect/>
          </a:stretch>
        </p:blipFill>
        <p:spPr>
          <a:xfrm>
            <a:off x="6768550" y="3350944"/>
            <a:ext cx="4236000" cy="1185466"/>
          </a:xfrm>
          <a:prstGeom prst="rect">
            <a:avLst/>
          </a:prstGeom>
        </p:spPr>
      </p:pic>
      <p:pic>
        <p:nvPicPr>
          <p:cNvPr id="17" name="图片 16">
            <a:extLst>
              <a:ext uri="{FF2B5EF4-FFF2-40B4-BE49-F238E27FC236}">
                <a16:creationId xmlns:a16="http://schemas.microsoft.com/office/drawing/2014/main" id="{B5E567FB-C84E-6AFA-9241-2A2A66AA72D7}"/>
              </a:ext>
            </a:extLst>
          </p:cNvPr>
          <p:cNvPicPr>
            <a:picLocks noChangeAspect="1"/>
          </p:cNvPicPr>
          <p:nvPr/>
        </p:nvPicPr>
        <p:blipFill>
          <a:blip r:embed="rId7"/>
          <a:stretch>
            <a:fillRect/>
          </a:stretch>
        </p:blipFill>
        <p:spPr>
          <a:xfrm>
            <a:off x="6948141" y="4635034"/>
            <a:ext cx="3309235" cy="2103006"/>
          </a:xfrm>
          <a:prstGeom prst="rect">
            <a:avLst/>
          </a:prstGeom>
        </p:spPr>
      </p:pic>
      <p:sp>
        <p:nvSpPr>
          <p:cNvPr id="18" name="矩形 17">
            <a:extLst>
              <a:ext uri="{FF2B5EF4-FFF2-40B4-BE49-F238E27FC236}">
                <a16:creationId xmlns:a16="http://schemas.microsoft.com/office/drawing/2014/main" id="{7C057DA2-0547-2970-D0C0-09F273692BDD}"/>
              </a:ext>
            </a:extLst>
          </p:cNvPr>
          <p:cNvSpPr/>
          <p:nvPr/>
        </p:nvSpPr>
        <p:spPr>
          <a:xfrm>
            <a:off x="1520220" y="2863849"/>
            <a:ext cx="1667480" cy="523220"/>
          </a:xfrm>
          <a:prstGeom prst="rect">
            <a:avLst/>
          </a:prstGeom>
          <a:noFill/>
        </p:spPr>
        <p:txBody>
          <a:bodyPr wrap="square" lIns="91440" tIns="45720" rIns="91440" bIns="45720">
            <a:spAutoFit/>
          </a:bodyPr>
          <a:lstStyle/>
          <a:p>
            <a:pPr algn="ctr"/>
            <a:r>
              <a:rPr lang="en-US" altLang="zh-CN" sz="2800" dirty="0">
                <a:ln w="0"/>
                <a:solidFill>
                  <a:schemeClr val="accent1"/>
                </a:solidFill>
                <a:effectLst>
                  <a:outerShdw blurRad="38100" dist="25400" dir="5400000" algn="ctr" rotWithShape="0">
                    <a:srgbClr val="6E747A">
                      <a:alpha val="43000"/>
                    </a:srgbClr>
                  </a:outerShdw>
                </a:effectLst>
              </a:rPr>
              <a:t>Coze</a:t>
            </a:r>
            <a:r>
              <a:rPr lang="zh-CN" altLang="en-US" sz="2800" dirty="0">
                <a:ln w="0"/>
                <a:solidFill>
                  <a:schemeClr val="accent1"/>
                </a:solidFill>
                <a:effectLst>
                  <a:outerShdw blurRad="38100" dist="25400" dir="5400000" algn="ctr" rotWithShape="0">
                    <a:srgbClr val="6E747A">
                      <a:alpha val="43000"/>
                    </a:srgbClr>
                  </a:outerShdw>
                </a:effectLst>
              </a:rPr>
              <a:t>生成</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19" name="矩形 18">
            <a:extLst>
              <a:ext uri="{FF2B5EF4-FFF2-40B4-BE49-F238E27FC236}">
                <a16:creationId xmlns:a16="http://schemas.microsoft.com/office/drawing/2014/main" id="{84E83CC9-9E09-46A2-C76B-B9C2849DDB7F}"/>
              </a:ext>
            </a:extLst>
          </p:cNvPr>
          <p:cNvSpPr/>
          <p:nvPr/>
        </p:nvSpPr>
        <p:spPr>
          <a:xfrm>
            <a:off x="8621503" y="2981566"/>
            <a:ext cx="1667480"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文心生成</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cxnSp>
        <p:nvCxnSpPr>
          <p:cNvPr id="21" name="直接连接符 20">
            <a:extLst>
              <a:ext uri="{FF2B5EF4-FFF2-40B4-BE49-F238E27FC236}">
                <a16:creationId xmlns:a16="http://schemas.microsoft.com/office/drawing/2014/main" id="{BAEAA10E-1C50-7A3E-45C2-894907A5F443}"/>
              </a:ext>
            </a:extLst>
          </p:cNvPr>
          <p:cNvCxnSpPr/>
          <p:nvPr/>
        </p:nvCxnSpPr>
        <p:spPr>
          <a:xfrm>
            <a:off x="8178800" y="2120900"/>
            <a:ext cx="130810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3" name="直接连接符 22">
            <a:extLst>
              <a:ext uri="{FF2B5EF4-FFF2-40B4-BE49-F238E27FC236}">
                <a16:creationId xmlns:a16="http://schemas.microsoft.com/office/drawing/2014/main" id="{615983DE-FC87-BB8B-DC01-5A81C014F2BB}"/>
              </a:ext>
            </a:extLst>
          </p:cNvPr>
          <p:cNvCxnSpPr/>
          <p:nvPr/>
        </p:nvCxnSpPr>
        <p:spPr>
          <a:xfrm>
            <a:off x="8255000" y="5403850"/>
            <a:ext cx="168910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5" name="直接连接符 24">
            <a:extLst>
              <a:ext uri="{FF2B5EF4-FFF2-40B4-BE49-F238E27FC236}">
                <a16:creationId xmlns:a16="http://schemas.microsoft.com/office/drawing/2014/main" id="{A6FCBEC9-4722-A66E-C5E0-22CEDE29E300}"/>
              </a:ext>
            </a:extLst>
          </p:cNvPr>
          <p:cNvCxnSpPr/>
          <p:nvPr/>
        </p:nvCxnSpPr>
        <p:spPr>
          <a:xfrm>
            <a:off x="7067550" y="5626100"/>
            <a:ext cx="186690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直接连接符 26">
            <a:extLst>
              <a:ext uri="{FF2B5EF4-FFF2-40B4-BE49-F238E27FC236}">
                <a16:creationId xmlns:a16="http://schemas.microsoft.com/office/drawing/2014/main" id="{80BE3E5C-FEF1-D7E4-C15F-49D48193180B}"/>
              </a:ext>
            </a:extLst>
          </p:cNvPr>
          <p:cNvCxnSpPr/>
          <p:nvPr/>
        </p:nvCxnSpPr>
        <p:spPr>
          <a:xfrm>
            <a:off x="698500" y="1492250"/>
            <a:ext cx="1885950"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29" name="直接连接符 28">
            <a:extLst>
              <a:ext uri="{FF2B5EF4-FFF2-40B4-BE49-F238E27FC236}">
                <a16:creationId xmlns:a16="http://schemas.microsoft.com/office/drawing/2014/main" id="{95583889-023A-51FA-0ABC-D5077FED5132}"/>
              </a:ext>
            </a:extLst>
          </p:cNvPr>
          <p:cNvCxnSpPr/>
          <p:nvPr/>
        </p:nvCxnSpPr>
        <p:spPr>
          <a:xfrm>
            <a:off x="393700" y="4832350"/>
            <a:ext cx="2311400" cy="0"/>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25458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A198F-399E-6F5B-BBA0-469BC605AF70}"/>
              </a:ext>
            </a:extLst>
          </p:cNvPr>
          <p:cNvSpPr>
            <a:spLocks noGrp="1"/>
          </p:cNvSpPr>
          <p:nvPr>
            <p:ph type="title"/>
          </p:nvPr>
        </p:nvSpPr>
        <p:spPr/>
        <p:txBody>
          <a:bodyPr/>
          <a:lstStyle/>
          <a:p>
            <a:pPr algn="ctr"/>
            <a:r>
              <a:rPr lang="zh-CN" altLang="en-US" dirty="0"/>
              <a:t>问题回答</a:t>
            </a:r>
          </a:p>
        </p:txBody>
      </p:sp>
      <p:sp>
        <p:nvSpPr>
          <p:cNvPr id="3" name="内容占位符 2">
            <a:extLst>
              <a:ext uri="{FF2B5EF4-FFF2-40B4-BE49-F238E27FC236}">
                <a16:creationId xmlns:a16="http://schemas.microsoft.com/office/drawing/2014/main" id="{081EAC48-10F9-1E07-C43E-B913D1F24E25}"/>
              </a:ext>
            </a:extLst>
          </p:cNvPr>
          <p:cNvSpPr>
            <a:spLocks noGrp="1"/>
          </p:cNvSpPr>
          <p:nvPr>
            <p:ph idx="1"/>
          </p:nvPr>
        </p:nvSpPr>
        <p:spPr/>
        <p:txBody>
          <a:bodyPr>
            <a:normAutofit/>
          </a:bodyPr>
          <a:lstStyle/>
          <a:p>
            <a:r>
              <a:rPr lang="zh-CN" altLang="en-US" sz="1800" dirty="0"/>
              <a:t>扣子的回答方式更加工程化，分步骤清晰地阐述实施方案</a:t>
            </a:r>
            <a:endParaRPr lang="en-US" altLang="zh-CN" sz="1800" dirty="0"/>
          </a:p>
          <a:p>
            <a:r>
              <a:rPr lang="zh-CN" altLang="en-US" sz="1800" dirty="0"/>
              <a:t>文心的回答偏总结性，浮于表面</a:t>
            </a:r>
          </a:p>
        </p:txBody>
      </p:sp>
    </p:spTree>
    <p:extLst>
      <p:ext uri="{BB962C8B-B14F-4D97-AF65-F5344CB8AC3E}">
        <p14:creationId xmlns:p14="http://schemas.microsoft.com/office/powerpoint/2010/main" val="176901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936D193-A9A9-43B2-FE14-3316C4D865E4}"/>
              </a:ext>
            </a:extLst>
          </p:cNvPr>
          <p:cNvSpPr>
            <a:spLocks noGrp="1"/>
          </p:cNvSpPr>
          <p:nvPr>
            <p:ph idx="1"/>
          </p:nvPr>
        </p:nvSpPr>
        <p:spPr>
          <a:xfrm>
            <a:off x="177800" y="0"/>
            <a:ext cx="12014200" cy="5986463"/>
          </a:xfrm>
        </p:spPr>
        <p:txBody>
          <a:bodyPr>
            <a:noAutofit/>
          </a:bodyPr>
          <a:lstStyle/>
          <a:p>
            <a:pPr marL="0" indent="0" algn="l">
              <a:buNone/>
            </a:pPr>
            <a:r>
              <a:rPr lang="zh-CN" altLang="en-US" sz="1000" b="1" i="0" dirty="0">
                <a:effectLst/>
                <a:latin typeface="+mn-ea"/>
              </a:rPr>
              <a:t>如果我是赵括，面对长平之战重来一遍，我会采取以下行动：</a:t>
            </a:r>
          </a:p>
          <a:p>
            <a:pPr marL="0" indent="0" algn="l">
              <a:buNone/>
            </a:pPr>
            <a:r>
              <a:rPr lang="zh-CN" altLang="en-US" sz="1000" b="1" i="0" dirty="0">
                <a:effectLst/>
                <a:latin typeface="+mn-ea"/>
              </a:rPr>
              <a:t>一、战前准备</a:t>
            </a:r>
          </a:p>
          <a:p>
            <a:pPr marL="0" indent="0" algn="l">
              <a:buNone/>
            </a:pPr>
            <a:r>
              <a:rPr lang="zh-CN" altLang="en-US" sz="1000" b="1" i="0" dirty="0">
                <a:effectLst/>
                <a:latin typeface="+mn-ea"/>
              </a:rPr>
              <a:t>深入了解秦军</a:t>
            </a:r>
          </a:p>
          <a:p>
            <a:pPr marL="0" indent="0" algn="l">
              <a:buNone/>
            </a:pPr>
            <a:r>
              <a:rPr lang="zh-CN" altLang="en-US" sz="1000" b="1" i="0" dirty="0">
                <a:effectLst/>
                <a:latin typeface="+mn-ea"/>
              </a:rPr>
              <a:t>派遣大量细作深入秦军营地及周边地区，收集关于秦军的兵力部署、将领特点、作战风格、粮草补给等详细情报。尤其关注秦军主将白起的战术偏好和指挥习惯，以便针对性地制定应对策略。</a:t>
            </a:r>
          </a:p>
          <a:p>
            <a:pPr marL="0" indent="0" algn="l">
              <a:buNone/>
            </a:pPr>
            <a:r>
              <a:rPr lang="zh-CN" altLang="en-US" sz="1000" b="1" i="0" dirty="0">
                <a:effectLst/>
                <a:latin typeface="+mn-ea"/>
              </a:rPr>
              <a:t>分析秦军此前的战役，研究其胜利的原因和战术运用，找出其优势和弱点。例如，秦军的弩兵强大，我会考虑如何在战场上减少其对我军的威胁。</a:t>
            </a:r>
          </a:p>
          <a:p>
            <a:pPr marL="0" indent="0" algn="l">
              <a:buNone/>
            </a:pPr>
            <a:r>
              <a:rPr lang="zh-CN" altLang="en-US" sz="1000" b="1" i="0" dirty="0">
                <a:effectLst/>
                <a:latin typeface="+mn-ea"/>
              </a:rPr>
              <a:t>整顿赵军内部</a:t>
            </a:r>
          </a:p>
          <a:p>
            <a:pPr marL="0" indent="0" algn="l">
              <a:buNone/>
            </a:pPr>
            <a:r>
              <a:rPr lang="zh-CN" altLang="en-US" sz="1000" b="1" i="0" dirty="0">
                <a:effectLst/>
                <a:latin typeface="+mn-ea"/>
              </a:rPr>
              <a:t>与各级将领和士兵进行深入沟通，了解他们的想法、担忧和建议。建立起良好的上下沟通机制，增强军队的凝聚力和士气。</a:t>
            </a:r>
          </a:p>
          <a:p>
            <a:pPr marL="0" indent="0" algn="l">
              <a:buNone/>
            </a:pPr>
            <a:r>
              <a:rPr lang="zh-CN" altLang="en-US" sz="1000" b="1" i="0" dirty="0">
                <a:effectLst/>
                <a:latin typeface="+mn-ea"/>
              </a:rPr>
              <a:t>对赵军的装备和粮草进行全面检查和整顿。确保武器装备的质量和数量充足，合理安排粮草储备和运输，以保障军队在长期作战中的供给。</a:t>
            </a:r>
          </a:p>
          <a:p>
            <a:pPr marL="0" indent="0" algn="l">
              <a:buNone/>
            </a:pPr>
            <a:r>
              <a:rPr lang="zh-CN" altLang="en-US" sz="1000" b="1" i="0" dirty="0">
                <a:effectLst/>
                <a:latin typeface="+mn-ea"/>
              </a:rPr>
              <a:t>加强军事训练，重点训练士兵的协同作战能力、防御技巧和应变能力。针对秦军的战术特点，进行有针对性的模拟演练，提高赵军的实战能力。</a:t>
            </a:r>
          </a:p>
          <a:p>
            <a:pPr marL="0" indent="0" algn="l">
              <a:buNone/>
            </a:pPr>
            <a:r>
              <a:rPr lang="zh-CN" altLang="en-US" sz="1000" b="1" i="0" dirty="0">
                <a:effectLst/>
                <a:latin typeface="+mn-ea"/>
              </a:rPr>
              <a:t>二、战略制定</a:t>
            </a:r>
          </a:p>
          <a:p>
            <a:pPr marL="0" indent="0" algn="l">
              <a:buNone/>
            </a:pPr>
            <a:r>
              <a:rPr lang="zh-CN" altLang="en-US" sz="1000" b="1" i="0" dirty="0">
                <a:effectLst/>
                <a:latin typeface="+mn-ea"/>
              </a:rPr>
              <a:t>坚守不出，消耗秦军</a:t>
            </a:r>
          </a:p>
          <a:p>
            <a:pPr marL="0" indent="0" algn="l">
              <a:buNone/>
            </a:pPr>
            <a:r>
              <a:rPr lang="zh-CN" altLang="en-US" sz="1000" b="1" i="0" dirty="0">
                <a:effectLst/>
                <a:latin typeface="+mn-ea"/>
              </a:rPr>
              <a:t>鉴于秦军远道而来，粮草补给线较长，我会选择坚守长平防线，避免与秦军进行大规模正面决战。利用地形优势，加固防御工事，以逸待劳，消耗秦军的兵力和粮草。</a:t>
            </a:r>
          </a:p>
          <a:p>
            <a:pPr marL="0" indent="0" algn="l">
              <a:buNone/>
            </a:pPr>
            <a:r>
              <a:rPr lang="zh-CN" altLang="en-US" sz="1000" b="1" i="0" dirty="0">
                <a:effectLst/>
                <a:latin typeface="+mn-ea"/>
              </a:rPr>
              <a:t>派遣小股部队骚扰秦军的补给线，破坏其粮草运输，增加秦军的后勤压力。同时，加强对赵军防线周边地区的巡逻和防御，防止秦军的偷袭。</a:t>
            </a:r>
          </a:p>
          <a:p>
            <a:pPr marL="0" indent="0" algn="l">
              <a:buNone/>
            </a:pPr>
            <a:r>
              <a:rPr lang="zh-CN" altLang="en-US" sz="1000" b="1" i="0" dirty="0">
                <a:effectLst/>
                <a:latin typeface="+mn-ea"/>
              </a:rPr>
              <a:t>寻求外援，合纵抗秦</a:t>
            </a:r>
          </a:p>
          <a:p>
            <a:pPr marL="0" indent="0" algn="l">
              <a:buNone/>
            </a:pPr>
            <a:r>
              <a:rPr lang="zh-CN" altLang="en-US" sz="1000" b="1" i="0" dirty="0">
                <a:effectLst/>
                <a:latin typeface="+mn-ea"/>
              </a:rPr>
              <a:t>派遣使者前往各国，尤其是与赵国关系较好的齐国、楚国等，向他们说明长平之战的重要性，请求他们出兵援助或提供粮草支持。强调如果赵国战败，秦国将一家独大，对各国构成巨大威胁。</a:t>
            </a:r>
          </a:p>
          <a:p>
            <a:pPr marL="0" indent="0" algn="l">
              <a:buNone/>
            </a:pPr>
            <a:r>
              <a:rPr lang="zh-CN" altLang="en-US" sz="1000" b="1" i="0" dirty="0">
                <a:effectLst/>
                <a:latin typeface="+mn-ea"/>
              </a:rPr>
              <a:t>利用外交手段，挑拨秦与其他国家的关系，制造紧张局势，迫使秦国分散兵力，减轻长平战场的压力。等待时机，出奇制胜</a:t>
            </a:r>
          </a:p>
          <a:p>
            <a:pPr marL="0" indent="0" algn="l">
              <a:buNone/>
            </a:pPr>
            <a:r>
              <a:rPr lang="zh-CN" altLang="en-US" sz="1000" b="1" i="0" dirty="0">
                <a:effectLst/>
                <a:latin typeface="+mn-ea"/>
              </a:rPr>
              <a:t>在坚守的过程中，密切观察秦军的动向，寻找其弱点和破绽。当秦军出现疲惫、士气低落或内部矛盾时，我会抓住时机，组织精锐部队进行突袭。</a:t>
            </a:r>
          </a:p>
          <a:p>
            <a:pPr marL="0" indent="0" algn="l">
              <a:buNone/>
            </a:pPr>
            <a:r>
              <a:rPr lang="zh-CN" altLang="en-US" sz="1000" b="1" i="0" dirty="0">
                <a:effectLst/>
                <a:latin typeface="+mn-ea"/>
              </a:rPr>
              <a:t>可以采用夜袭、伏击等战术，出其不意地攻击秦军。同时，利用赵军的骑兵优势，在战场上进行快速机动，打乱秦军的部署。</a:t>
            </a:r>
          </a:p>
          <a:p>
            <a:pPr marL="0" indent="0" algn="l">
              <a:buNone/>
            </a:pPr>
            <a:r>
              <a:rPr lang="zh-CN" altLang="en-US" sz="1000" b="1" i="0" dirty="0">
                <a:effectLst/>
                <a:latin typeface="+mn-ea"/>
              </a:rPr>
              <a:t>三、战时决策</a:t>
            </a:r>
          </a:p>
          <a:p>
            <a:pPr marL="0" indent="0" algn="l">
              <a:buNone/>
            </a:pPr>
            <a:r>
              <a:rPr lang="zh-CN" altLang="en-US" sz="1000" b="1" i="0" dirty="0">
                <a:effectLst/>
                <a:latin typeface="+mn-ea"/>
              </a:rPr>
              <a:t>谨慎指挥，避免冒进</a:t>
            </a:r>
          </a:p>
          <a:p>
            <a:pPr marL="0" indent="0" algn="l">
              <a:buNone/>
            </a:pPr>
            <a:r>
              <a:rPr lang="zh-CN" altLang="en-US" sz="1000" b="1" i="0" dirty="0">
                <a:effectLst/>
                <a:latin typeface="+mn-ea"/>
              </a:rPr>
              <a:t>在战斗中，保持冷静和谨慎，不轻易被秦军的挑衅所激怒。严格按照既定的战略和战术进行指挥，避免盲目冒进和轻敌。</a:t>
            </a:r>
          </a:p>
          <a:p>
            <a:pPr marL="0" indent="0" algn="l">
              <a:buNone/>
            </a:pPr>
            <a:r>
              <a:rPr lang="zh-CN" altLang="en-US" sz="1000" b="1" i="0" dirty="0">
                <a:effectLst/>
                <a:latin typeface="+mn-ea"/>
              </a:rPr>
              <a:t>充分发挥各级将领的作用，听取他们的建议和意见。根据战场实际情况，及时调整作战计划，确保赵军始终处于有利地位。</a:t>
            </a:r>
          </a:p>
          <a:p>
            <a:pPr marL="0" indent="0" algn="l">
              <a:buNone/>
            </a:pPr>
            <a:r>
              <a:rPr lang="zh-CN" altLang="en-US" sz="1000" b="1" i="0" dirty="0">
                <a:effectLst/>
                <a:latin typeface="+mn-ea"/>
              </a:rPr>
              <a:t>关注士兵伤亡，保障后勤补给</a:t>
            </a:r>
          </a:p>
          <a:p>
            <a:pPr marL="0" indent="0" algn="l">
              <a:buNone/>
            </a:pPr>
            <a:r>
              <a:rPr lang="zh-CN" altLang="en-US" sz="1000" b="1" i="0" dirty="0">
                <a:effectLst/>
                <a:latin typeface="+mn-ea"/>
              </a:rPr>
              <a:t>时刻关注士兵的伤亡情况，及时组织医疗救援和伤员安置。确保受伤士兵得到及时治疗，减少非战斗减员。</a:t>
            </a:r>
          </a:p>
          <a:p>
            <a:pPr marL="0" indent="0" algn="l">
              <a:buNone/>
            </a:pPr>
            <a:r>
              <a:rPr lang="zh-CN" altLang="en-US" sz="1000" b="1" i="0" dirty="0">
                <a:effectLst/>
                <a:latin typeface="+mn-ea"/>
              </a:rPr>
              <a:t>加强对后勤补给的管理和保护，确保粮草、武器装备等物资的充足供应。合理分配资源，优先保障前线士兵的需求。</a:t>
            </a:r>
          </a:p>
          <a:p>
            <a:pPr marL="0" indent="0" algn="l">
              <a:buNone/>
            </a:pPr>
            <a:r>
              <a:rPr lang="zh-CN" altLang="en-US" sz="1000" b="1" i="0" dirty="0">
                <a:effectLst/>
                <a:latin typeface="+mn-ea"/>
              </a:rPr>
              <a:t>与友军配合，协同作战</a:t>
            </a:r>
          </a:p>
          <a:p>
            <a:pPr marL="0" indent="0" algn="l">
              <a:buNone/>
            </a:pPr>
            <a:r>
              <a:rPr lang="zh-CN" altLang="en-US" sz="1000" b="1" i="0" dirty="0">
                <a:effectLst/>
                <a:latin typeface="+mn-ea"/>
              </a:rPr>
              <a:t>如果有外援到来，积极与友军配合，协同作战。制定统一的作战计划，明确各自的任务和职责，发挥联军的优势，共同对抗秦军。</a:t>
            </a:r>
          </a:p>
          <a:p>
            <a:pPr marL="0" indent="0" algn="l">
              <a:buNone/>
            </a:pPr>
            <a:r>
              <a:rPr lang="zh-CN" altLang="en-US" sz="1000" b="1" i="0" dirty="0">
                <a:effectLst/>
                <a:latin typeface="+mn-ea"/>
              </a:rPr>
              <a:t>与友军保持密切联系，及时互通情报，互相支援。在战场上，形成合力，共同打击秦军。</a:t>
            </a:r>
          </a:p>
          <a:p>
            <a:pPr marL="0" indent="0" algn="l">
              <a:buNone/>
            </a:pPr>
            <a:r>
              <a:rPr lang="zh-CN" altLang="en-US" sz="1000" b="1" i="0" dirty="0">
                <a:effectLst/>
                <a:latin typeface="+mn-ea"/>
              </a:rPr>
              <a:t>总之，如果我是赵括，重来一遍长平之战，我会更加谨慎、理智地制定战略和战术，充分利用各种资源和手段，争取在战争中取得胜利，为赵国的生存和发展做出贡献。</a:t>
            </a:r>
          </a:p>
        </p:txBody>
      </p:sp>
      <p:sp>
        <p:nvSpPr>
          <p:cNvPr id="6" name="矩形 5">
            <a:extLst>
              <a:ext uri="{FF2B5EF4-FFF2-40B4-BE49-F238E27FC236}">
                <a16:creationId xmlns:a16="http://schemas.microsoft.com/office/drawing/2014/main" id="{440F42D8-A6F2-C6EC-24E7-8994E7D3CE04}"/>
              </a:ext>
            </a:extLst>
          </p:cNvPr>
          <p:cNvSpPr/>
          <p:nvPr/>
        </p:nvSpPr>
        <p:spPr>
          <a:xfrm>
            <a:off x="8662269" y="1925935"/>
            <a:ext cx="2512867" cy="769441"/>
          </a:xfrm>
          <a:prstGeom prst="rect">
            <a:avLst/>
          </a:prstGeom>
          <a:noFill/>
        </p:spPr>
        <p:txBody>
          <a:bodyPr wrap="none" lIns="91440" tIns="45720" rIns="91440" bIns="45720">
            <a:spAutoFit/>
          </a:bodyPr>
          <a:lstStyle/>
          <a:p>
            <a:pPr algn="ctr"/>
            <a:r>
              <a:rPr lang="en-US" altLang="zh-CN" sz="4400" b="0" cap="none" spc="0" dirty="0">
                <a:ln w="0"/>
                <a:solidFill>
                  <a:schemeClr val="accent1"/>
                </a:solidFill>
                <a:effectLst>
                  <a:outerShdw blurRad="38100" dist="25400" dir="5400000" algn="ctr" rotWithShape="0">
                    <a:srgbClr val="6E747A">
                      <a:alpha val="43000"/>
                    </a:srgbClr>
                  </a:outerShdw>
                </a:effectLst>
              </a:rPr>
              <a:t>COZE</a:t>
            </a:r>
            <a:r>
              <a:rPr lang="zh-CN" altLang="en-US" sz="4400" b="0" cap="none" spc="0" dirty="0">
                <a:ln w="0"/>
                <a:solidFill>
                  <a:schemeClr val="accent1"/>
                </a:solidFill>
                <a:effectLst>
                  <a:outerShdw blurRad="38100" dist="25400" dir="5400000" algn="ctr" rotWithShape="0">
                    <a:srgbClr val="6E747A">
                      <a:alpha val="43000"/>
                    </a:srgbClr>
                  </a:outerShdw>
                </a:effectLst>
              </a:rPr>
              <a:t>生成</a:t>
            </a:r>
          </a:p>
        </p:txBody>
      </p:sp>
    </p:spTree>
    <p:extLst>
      <p:ext uri="{BB962C8B-B14F-4D97-AF65-F5344CB8AC3E}">
        <p14:creationId xmlns:p14="http://schemas.microsoft.com/office/powerpoint/2010/main" val="1013454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87695E5-DBB0-5618-A0A6-B5E9E3EA37CF}"/>
              </a:ext>
            </a:extLst>
          </p:cNvPr>
          <p:cNvSpPr>
            <a:spLocks noGrp="1"/>
          </p:cNvSpPr>
          <p:nvPr>
            <p:ph idx="1"/>
          </p:nvPr>
        </p:nvSpPr>
        <p:spPr>
          <a:xfrm>
            <a:off x="838200" y="1421316"/>
            <a:ext cx="10852150" cy="4443413"/>
          </a:xfrm>
        </p:spPr>
        <p:txBody>
          <a:bodyPr>
            <a:normAutofit/>
          </a:bodyPr>
          <a:lstStyle/>
          <a:p>
            <a:pPr marL="0" indent="0" algn="just">
              <a:buNone/>
            </a:pPr>
            <a:r>
              <a:rPr lang="zh-CN" altLang="en-US" sz="1400" b="1" i="0" dirty="0">
                <a:solidFill>
                  <a:srgbClr val="333333"/>
                </a:solidFill>
                <a:effectLst/>
                <a:latin typeface="-apple-system"/>
              </a:rPr>
              <a:t>如果我是长平之战的赵括，重来一遍历史的话，我会深刻反思前人的错误，并努力避免重蹈覆辙。</a:t>
            </a:r>
          </a:p>
          <a:p>
            <a:pPr marL="0" indent="0" algn="just">
              <a:buNone/>
            </a:pPr>
            <a:r>
              <a:rPr lang="zh-CN" altLang="en-US" sz="1400" b="1" i="0" dirty="0">
                <a:solidFill>
                  <a:srgbClr val="333333"/>
                </a:solidFill>
                <a:effectLst/>
                <a:latin typeface="-apple-system"/>
              </a:rPr>
              <a:t>首先，我会认识到自己缺乏实战经验，不应盲目自信地指挥大军。因此，我会更加谦逊地向有经验的老将请教，并虚心学习战争策略和指挥技巧。</a:t>
            </a:r>
          </a:p>
          <a:p>
            <a:pPr marL="0" indent="0" algn="just">
              <a:buNone/>
            </a:pPr>
            <a:r>
              <a:rPr lang="zh-CN" altLang="en-US" sz="1400" b="1" i="0" dirty="0">
                <a:solidFill>
                  <a:srgbClr val="333333"/>
                </a:solidFill>
                <a:effectLst/>
                <a:latin typeface="-apple-system"/>
              </a:rPr>
              <a:t>其次，我会更加谨慎地分析敌情和战场形势，不轻易被表面的现象所迷惑。我会深入了解秦军的实力和作战特点，制定出更加切实可行的作战计划。</a:t>
            </a:r>
          </a:p>
          <a:p>
            <a:pPr marL="0" indent="0" algn="just">
              <a:buNone/>
            </a:pPr>
            <a:r>
              <a:rPr lang="zh-CN" altLang="en-US" sz="1400" b="1" i="0" dirty="0">
                <a:solidFill>
                  <a:srgbClr val="333333"/>
                </a:solidFill>
                <a:effectLst/>
                <a:latin typeface="-apple-system"/>
              </a:rPr>
              <a:t>在战争中，我会更加注重与士兵的沟通和协作，确保军队内部的团结和士气高昂。同时，我也会更加灵活地调整战术和战略，以适应战场上的变化。</a:t>
            </a:r>
          </a:p>
          <a:p>
            <a:pPr marL="0" indent="0" algn="just">
              <a:buNone/>
            </a:pPr>
            <a:r>
              <a:rPr lang="zh-CN" altLang="en-US" sz="1400" b="1" i="0" dirty="0">
                <a:solidFill>
                  <a:srgbClr val="333333"/>
                </a:solidFill>
                <a:effectLst/>
                <a:latin typeface="-apple-system"/>
              </a:rPr>
              <a:t>最后，我会时刻保持警惕和冷静，不被一时的胜利或失败所冲昏头脑。我会牢记战争的残酷和无常，以更加稳健和谨慎的态度来面对这场决定赵国命运的战役。</a:t>
            </a:r>
          </a:p>
          <a:p>
            <a:pPr marL="0" indent="0" algn="just">
              <a:buNone/>
            </a:pPr>
            <a:r>
              <a:rPr lang="zh-CN" altLang="en-US" sz="1400" b="1" i="0" dirty="0">
                <a:solidFill>
                  <a:srgbClr val="333333"/>
                </a:solidFill>
                <a:effectLst/>
                <a:latin typeface="-apple-system"/>
              </a:rPr>
              <a:t>当然，历史无法重来，但我们可以从历史的教训中汲取智慧。长平之战的失败给赵国带来了巨大的灾难和教训，也让我们更加深刻地认识到战争的重要性和复杂性。因此，我们应该铭记历史，珍惜和平，努力避免战争的发生。</a:t>
            </a:r>
          </a:p>
          <a:p>
            <a:pPr marL="0" indent="0">
              <a:buNone/>
            </a:pPr>
            <a:endParaRPr lang="zh-CN" altLang="en-US" sz="1400" b="1" dirty="0"/>
          </a:p>
        </p:txBody>
      </p:sp>
      <p:sp>
        <p:nvSpPr>
          <p:cNvPr id="4" name="矩形 3">
            <a:extLst>
              <a:ext uri="{FF2B5EF4-FFF2-40B4-BE49-F238E27FC236}">
                <a16:creationId xmlns:a16="http://schemas.microsoft.com/office/drawing/2014/main" id="{8CD5469D-EE2A-DC83-E1F2-7A76EF26D887}"/>
              </a:ext>
            </a:extLst>
          </p:cNvPr>
          <p:cNvSpPr/>
          <p:nvPr/>
        </p:nvSpPr>
        <p:spPr>
          <a:xfrm>
            <a:off x="3471806" y="4967585"/>
            <a:ext cx="2441694" cy="769441"/>
          </a:xfrm>
          <a:prstGeom prst="rect">
            <a:avLst/>
          </a:prstGeom>
          <a:noFill/>
        </p:spPr>
        <p:txBody>
          <a:bodyPr wrap="none" lIns="91440" tIns="45720" rIns="91440" bIns="45720">
            <a:spAutoFit/>
          </a:bodyPr>
          <a:lstStyle/>
          <a:p>
            <a:pPr algn="ctr"/>
            <a:r>
              <a:rPr lang="zh-CN" altLang="en-US" sz="4400" dirty="0">
                <a:ln w="0"/>
                <a:solidFill>
                  <a:schemeClr val="accent1"/>
                </a:solidFill>
                <a:effectLst>
                  <a:outerShdw blurRad="38100" dist="25400" dir="5400000" algn="ctr" rotWithShape="0">
                    <a:srgbClr val="6E747A">
                      <a:alpha val="43000"/>
                    </a:srgbClr>
                  </a:outerShdw>
                </a:effectLst>
              </a:rPr>
              <a:t>文心</a:t>
            </a:r>
            <a:r>
              <a:rPr lang="zh-CN" altLang="en-US" sz="4400" b="0" cap="none" spc="0" dirty="0">
                <a:ln w="0"/>
                <a:solidFill>
                  <a:schemeClr val="accent1"/>
                </a:solidFill>
                <a:effectLst>
                  <a:outerShdw blurRad="38100" dist="25400" dir="5400000" algn="ctr" rotWithShape="0">
                    <a:srgbClr val="6E747A">
                      <a:alpha val="43000"/>
                    </a:srgbClr>
                  </a:outerShdw>
                </a:effectLst>
              </a:rPr>
              <a:t>生成</a:t>
            </a:r>
          </a:p>
        </p:txBody>
      </p:sp>
    </p:spTree>
    <p:extLst>
      <p:ext uri="{BB962C8B-B14F-4D97-AF65-F5344CB8AC3E}">
        <p14:creationId xmlns:p14="http://schemas.microsoft.com/office/powerpoint/2010/main" val="142206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0C10D-7132-44B5-68BF-7ED8374A1178}"/>
              </a:ext>
            </a:extLst>
          </p:cNvPr>
          <p:cNvSpPr>
            <a:spLocks noGrp="1"/>
          </p:cNvSpPr>
          <p:nvPr>
            <p:ph type="title"/>
          </p:nvPr>
        </p:nvSpPr>
        <p:spPr>
          <a:xfrm>
            <a:off x="890239" y="2468988"/>
            <a:ext cx="10515600" cy="1325563"/>
          </a:xfrm>
        </p:spPr>
        <p:txBody>
          <a:bodyPr/>
          <a:lstStyle/>
          <a:p>
            <a:pPr algn="ctr"/>
            <a:r>
              <a:rPr lang="zh-CN" altLang="en-US" dirty="0"/>
              <a:t>针对京东智能体的产品区分功能</a:t>
            </a:r>
          </a:p>
        </p:txBody>
      </p:sp>
    </p:spTree>
    <p:extLst>
      <p:ext uri="{BB962C8B-B14F-4D97-AF65-F5344CB8AC3E}">
        <p14:creationId xmlns:p14="http://schemas.microsoft.com/office/powerpoint/2010/main" val="1980260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3027C1-2A9D-2E3A-32B9-98118F8F6B2B}"/>
              </a:ext>
            </a:extLst>
          </p:cNvPr>
          <p:cNvSpPr>
            <a:spLocks noGrp="1"/>
          </p:cNvSpPr>
          <p:nvPr>
            <p:ph type="title"/>
          </p:nvPr>
        </p:nvSpPr>
        <p:spPr>
          <a:xfrm>
            <a:off x="838200" y="365125"/>
            <a:ext cx="8960005" cy="1240651"/>
          </a:xfrm>
        </p:spPr>
        <p:txBody>
          <a:bodyPr>
            <a:normAutofit/>
          </a:bodyPr>
          <a:lstStyle/>
          <a:p>
            <a:r>
              <a:rPr lang="zh-CN" altLang="en-US" sz="2800" dirty="0"/>
              <a:t>一、支持全文检索知识库</a:t>
            </a:r>
          </a:p>
        </p:txBody>
      </p:sp>
      <p:sp>
        <p:nvSpPr>
          <p:cNvPr id="3" name="内容占位符 2">
            <a:extLst>
              <a:ext uri="{FF2B5EF4-FFF2-40B4-BE49-F238E27FC236}">
                <a16:creationId xmlns:a16="http://schemas.microsoft.com/office/drawing/2014/main" id="{09B6FAF8-8928-8338-52FE-517CC2CCF10E}"/>
              </a:ext>
            </a:extLst>
          </p:cNvPr>
          <p:cNvSpPr>
            <a:spLocks noGrp="1"/>
          </p:cNvSpPr>
          <p:nvPr>
            <p:ph idx="1"/>
          </p:nvPr>
        </p:nvSpPr>
        <p:spPr>
          <a:xfrm>
            <a:off x="838200" y="1419922"/>
            <a:ext cx="10515600" cy="4757041"/>
          </a:xfrm>
        </p:spPr>
        <p:txBody>
          <a:bodyPr>
            <a:normAutofit fontScale="47500" lnSpcReduction="20000"/>
          </a:bodyPr>
          <a:lstStyle/>
          <a:p>
            <a:pPr algn="l">
              <a:lnSpc>
                <a:spcPts val="1800"/>
              </a:lnSpc>
              <a:spcBef>
                <a:spcPts val="0"/>
              </a:spcBef>
            </a:pPr>
            <a:r>
              <a:rPr lang="zh-CN" altLang="en-US" b="0" i="0" dirty="0">
                <a:solidFill>
                  <a:srgbClr val="060607"/>
                </a:solidFill>
                <a:effectLst/>
                <a:latin typeface="-apple-system"/>
              </a:rPr>
              <a:t>全文检索是一种用于在大量文本数据中快速查找特定内容的技术。其实现通常包括以下几个关键步骤：</a:t>
            </a:r>
          </a:p>
          <a:p>
            <a:pPr algn="l">
              <a:lnSpc>
                <a:spcPts val="1800"/>
              </a:lnSpc>
              <a:spcBef>
                <a:spcPts val="0"/>
              </a:spcBef>
            </a:pPr>
            <a:r>
              <a:rPr lang="en-US" altLang="zh-CN" b="1" i="0" dirty="0">
                <a:solidFill>
                  <a:srgbClr val="060607"/>
                </a:solidFill>
                <a:effectLst/>
                <a:latin typeface="-apple-system"/>
              </a:rPr>
              <a:t>1. </a:t>
            </a:r>
            <a:r>
              <a:rPr lang="zh-CN" altLang="en-US" b="1" i="0" dirty="0">
                <a:solidFill>
                  <a:srgbClr val="060607"/>
                </a:solidFill>
                <a:effectLst/>
                <a:latin typeface="-apple-system"/>
              </a:rPr>
              <a:t>分词与预处理</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分词</a:t>
            </a:r>
            <a:r>
              <a:rPr lang="zh-CN" altLang="en-US" b="0" i="0" dirty="0">
                <a:solidFill>
                  <a:srgbClr val="060607"/>
                </a:solidFill>
                <a:effectLst/>
                <a:latin typeface="-apple-system"/>
              </a:rPr>
              <a:t>：将文本内容切分为一个个独立的单词或词组。对于中文，这一步尤为重要，因为中文文本需要通过分词来识别出单独的词汇。</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预处理</a:t>
            </a:r>
            <a:r>
              <a:rPr lang="zh-CN" altLang="en-US" b="0" i="0" dirty="0">
                <a:solidFill>
                  <a:srgbClr val="060607"/>
                </a:solidFill>
                <a:effectLst/>
                <a:latin typeface="-apple-system"/>
              </a:rPr>
              <a:t>：包括去除标点符号、停用词（如“的”、“是”等常见但无特定意义的词汇），以及进行词干提取等操作，以便后续处理。</a:t>
            </a:r>
          </a:p>
          <a:p>
            <a:pPr algn="l">
              <a:lnSpc>
                <a:spcPts val="1800"/>
              </a:lnSpc>
              <a:spcBef>
                <a:spcPts val="0"/>
              </a:spcBef>
            </a:pPr>
            <a:r>
              <a:rPr lang="en-US" altLang="zh-CN" b="1" i="0" dirty="0">
                <a:solidFill>
                  <a:srgbClr val="060607"/>
                </a:solidFill>
                <a:effectLst/>
                <a:latin typeface="-apple-system"/>
              </a:rPr>
              <a:t>2. </a:t>
            </a:r>
            <a:r>
              <a:rPr lang="zh-CN" altLang="en-US" b="1" i="0" dirty="0">
                <a:solidFill>
                  <a:srgbClr val="060607"/>
                </a:solidFill>
                <a:effectLst/>
                <a:latin typeface="-apple-system"/>
              </a:rPr>
              <a:t>建立索引</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索引结构</a:t>
            </a:r>
            <a:r>
              <a:rPr lang="zh-CN" altLang="en-US" b="0" i="0" dirty="0">
                <a:solidFill>
                  <a:srgbClr val="060607"/>
                </a:solidFill>
                <a:effectLst/>
                <a:latin typeface="-apple-system"/>
              </a:rPr>
              <a:t>：通常包括词典和倒排表。词典按字母顺序存储所有唯一的词，每个词都对应一个或多个文档</a:t>
            </a:r>
            <a:r>
              <a:rPr lang="en-US" altLang="zh-CN" b="0" i="0" dirty="0">
                <a:solidFill>
                  <a:srgbClr val="060607"/>
                </a:solidFill>
                <a:effectLst/>
                <a:latin typeface="-apple-system"/>
              </a:rPr>
              <a:t>ID</a:t>
            </a:r>
            <a:r>
              <a:rPr lang="zh-CN" altLang="en-US" b="0" i="0" dirty="0">
                <a:solidFill>
                  <a:srgbClr val="060607"/>
                </a:solidFill>
                <a:effectLst/>
                <a:latin typeface="-apple-system"/>
              </a:rPr>
              <a:t>。倒排表记录了每个词在哪些文档中出现，以及出现的次数等信息。</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索引工具</a:t>
            </a:r>
            <a:r>
              <a:rPr lang="zh-CN" altLang="en-US" b="0" i="0" dirty="0">
                <a:solidFill>
                  <a:srgbClr val="060607"/>
                </a:solidFill>
                <a:effectLst/>
                <a:latin typeface="-apple-system"/>
              </a:rPr>
              <a:t>：常用的索引工具包括</a:t>
            </a:r>
            <a:r>
              <a:rPr lang="en-US" altLang="zh-CN" b="0" i="0" dirty="0">
                <a:solidFill>
                  <a:srgbClr val="060607"/>
                </a:solidFill>
                <a:effectLst/>
                <a:latin typeface="-apple-system"/>
              </a:rPr>
              <a:t>Lucene</a:t>
            </a:r>
            <a:r>
              <a:rPr lang="zh-CN" altLang="en-US" b="0" i="0" dirty="0">
                <a:solidFill>
                  <a:srgbClr val="060607"/>
                </a:solidFill>
                <a:effectLst/>
                <a:latin typeface="-apple-system"/>
              </a:rPr>
              <a:t>、</a:t>
            </a:r>
            <a:r>
              <a:rPr lang="en-US" altLang="zh-CN" b="0" i="0" dirty="0" err="1">
                <a:solidFill>
                  <a:srgbClr val="060607"/>
                </a:solidFill>
                <a:effectLst/>
                <a:latin typeface="-apple-system"/>
              </a:rPr>
              <a:t>Solr</a:t>
            </a:r>
            <a:r>
              <a:rPr lang="zh-CN" altLang="en-US" b="0" i="0" dirty="0">
                <a:solidFill>
                  <a:srgbClr val="060607"/>
                </a:solidFill>
                <a:effectLst/>
                <a:latin typeface="-apple-system"/>
              </a:rPr>
              <a:t>和</a:t>
            </a:r>
            <a:r>
              <a:rPr lang="en-US" altLang="zh-CN" b="0" i="0" dirty="0" err="1">
                <a:solidFill>
                  <a:srgbClr val="060607"/>
                </a:solidFill>
                <a:effectLst/>
                <a:latin typeface="-apple-system"/>
              </a:rPr>
              <a:t>ElasticSearch</a:t>
            </a:r>
            <a:r>
              <a:rPr lang="zh-CN" altLang="en-US" b="0" i="0" dirty="0">
                <a:solidFill>
                  <a:srgbClr val="060607"/>
                </a:solidFill>
                <a:effectLst/>
                <a:latin typeface="-apple-system"/>
              </a:rPr>
              <a:t>等。这些工具提供了强大的索引构建和查询功能，能够高效地处理大规模数据</a:t>
            </a:r>
            <a:r>
              <a:rPr lang="en-US" altLang="zh-CN" b="0" i="0" dirty="0">
                <a:solidFill>
                  <a:srgbClr val="060607"/>
                </a:solidFill>
                <a:effectLst/>
                <a:latin typeface="-apple-system"/>
              </a:rPr>
              <a:t>.</a:t>
            </a:r>
          </a:p>
          <a:p>
            <a:pPr algn="l">
              <a:lnSpc>
                <a:spcPts val="1800"/>
              </a:lnSpc>
              <a:spcBef>
                <a:spcPts val="0"/>
              </a:spcBef>
            </a:pPr>
            <a:r>
              <a:rPr lang="en-US" altLang="zh-CN" b="1" i="0" dirty="0">
                <a:solidFill>
                  <a:srgbClr val="060607"/>
                </a:solidFill>
                <a:effectLst/>
                <a:latin typeface="-apple-system"/>
              </a:rPr>
              <a:t>3. </a:t>
            </a:r>
            <a:r>
              <a:rPr lang="zh-CN" altLang="en-US" b="1" i="0" dirty="0">
                <a:solidFill>
                  <a:srgbClr val="060607"/>
                </a:solidFill>
                <a:effectLst/>
                <a:latin typeface="-apple-system"/>
              </a:rPr>
              <a:t>搜索与排序</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查询处理</a:t>
            </a:r>
            <a:r>
              <a:rPr lang="zh-CN" altLang="en-US" b="0" i="0" dirty="0">
                <a:solidFill>
                  <a:srgbClr val="060607"/>
                </a:solidFill>
                <a:effectLst/>
                <a:latin typeface="-apple-system"/>
              </a:rPr>
              <a:t>：用户输入查询语句后，系统会对查询语句进行分词和语言处理，然后在索引中查找匹配的词。</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结果排序</a:t>
            </a:r>
            <a:r>
              <a:rPr lang="zh-CN" altLang="en-US" b="0" i="0" dirty="0">
                <a:solidFill>
                  <a:srgbClr val="060607"/>
                </a:solidFill>
                <a:effectLst/>
                <a:latin typeface="-apple-system"/>
              </a:rPr>
              <a:t>：通过合并多个词的倒排表，可以得到包含所有查询词的文档集合。最后，根据文档的相关性进行排序，将最相关的文档优先返回给用户。常见的排序算法包括</a:t>
            </a:r>
            <a:r>
              <a:rPr lang="en-US" altLang="zh-CN" b="0" i="0" dirty="0">
                <a:solidFill>
                  <a:srgbClr val="060607"/>
                </a:solidFill>
                <a:effectLst/>
                <a:latin typeface="-apple-system"/>
              </a:rPr>
              <a:t>TF-IDF</a:t>
            </a:r>
            <a:r>
              <a:rPr lang="zh-CN" altLang="en-US" b="0" i="0" dirty="0">
                <a:solidFill>
                  <a:srgbClr val="060607"/>
                </a:solidFill>
                <a:effectLst/>
                <a:latin typeface="-apple-system"/>
              </a:rPr>
              <a:t>、</a:t>
            </a:r>
            <a:r>
              <a:rPr lang="en-US" altLang="zh-CN" b="0" i="0" dirty="0">
                <a:solidFill>
                  <a:srgbClr val="060607"/>
                </a:solidFill>
                <a:effectLst/>
                <a:latin typeface="-apple-system"/>
              </a:rPr>
              <a:t>BM25</a:t>
            </a:r>
            <a:r>
              <a:rPr lang="zh-CN" altLang="en-US" b="0" i="0" dirty="0">
                <a:solidFill>
                  <a:srgbClr val="060607"/>
                </a:solidFill>
                <a:effectLst/>
                <a:latin typeface="-apple-system"/>
              </a:rPr>
              <a:t>等。</a:t>
            </a:r>
          </a:p>
          <a:p>
            <a:pPr algn="l">
              <a:lnSpc>
                <a:spcPts val="1800"/>
              </a:lnSpc>
              <a:spcBef>
                <a:spcPts val="0"/>
              </a:spcBef>
            </a:pPr>
            <a:r>
              <a:rPr lang="en-US" altLang="zh-CN" b="1" i="0" dirty="0">
                <a:solidFill>
                  <a:srgbClr val="060607"/>
                </a:solidFill>
                <a:effectLst/>
                <a:latin typeface="-apple-system"/>
              </a:rPr>
              <a:t>4. </a:t>
            </a:r>
            <a:r>
              <a:rPr lang="zh-CN" altLang="en-US" b="1" i="0" dirty="0">
                <a:solidFill>
                  <a:srgbClr val="060607"/>
                </a:solidFill>
                <a:effectLst/>
                <a:latin typeface="-apple-system"/>
              </a:rPr>
              <a:t>应用场景</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搜索引擎</a:t>
            </a:r>
            <a:r>
              <a:rPr lang="zh-CN" altLang="en-US" b="0" i="0" dirty="0">
                <a:solidFill>
                  <a:srgbClr val="060607"/>
                </a:solidFill>
                <a:effectLst/>
                <a:latin typeface="-apple-system"/>
              </a:rPr>
              <a:t>：是全文检索技术最为广泛应用的领域之一，通过收集互联网上的网页、文档等信息，然后建立索引，根据用户查询的关键词快速定位到相关的文档。</a:t>
            </a:r>
          </a:p>
          <a:p>
            <a:pPr algn="l">
              <a:lnSpc>
                <a:spcPts val="1800"/>
              </a:lnSpc>
              <a:spcBef>
                <a:spcPts val="0"/>
              </a:spcBef>
              <a:buFont typeface="Arial" panose="020B0604020202020204" pitchFamily="34" charset="0"/>
              <a:buChar char="•"/>
            </a:pPr>
            <a:r>
              <a:rPr lang="zh-CN" altLang="en-US" b="1" i="0" dirty="0">
                <a:solidFill>
                  <a:srgbClr val="060607"/>
                </a:solidFill>
                <a:effectLst/>
                <a:latin typeface="-apple-system"/>
              </a:rPr>
              <a:t>本地文件搜索</a:t>
            </a:r>
            <a:r>
              <a:rPr lang="zh-CN" altLang="en-US" b="0" i="0" dirty="0">
                <a:solidFill>
                  <a:srgbClr val="060607"/>
                </a:solidFill>
                <a:effectLst/>
                <a:latin typeface="-apple-system"/>
              </a:rPr>
              <a:t>：如使用</a:t>
            </a:r>
            <a:r>
              <a:rPr lang="en-US" altLang="zh-CN" b="0" i="0" dirty="0" err="1">
                <a:solidFill>
                  <a:srgbClr val="060607"/>
                </a:solidFill>
                <a:effectLst/>
                <a:latin typeface="-apple-system"/>
              </a:rPr>
              <a:t>DocFetcher</a:t>
            </a:r>
            <a:r>
              <a:rPr lang="zh-CN" altLang="en-US" b="0" i="0" dirty="0">
                <a:solidFill>
                  <a:srgbClr val="060607"/>
                </a:solidFill>
                <a:effectLst/>
                <a:latin typeface="-apple-system"/>
              </a:rPr>
              <a:t>、</a:t>
            </a:r>
            <a:r>
              <a:rPr lang="en-US" altLang="zh-CN" b="0" i="0" dirty="0" err="1">
                <a:solidFill>
                  <a:srgbClr val="060607"/>
                </a:solidFill>
                <a:effectLst/>
                <a:latin typeface="-apple-system"/>
              </a:rPr>
              <a:t>Recoll</a:t>
            </a:r>
            <a:r>
              <a:rPr lang="zh-CN" altLang="en-US" b="0" i="0" dirty="0">
                <a:solidFill>
                  <a:srgbClr val="060607"/>
                </a:solidFill>
                <a:effectLst/>
                <a:latin typeface="-apple-system"/>
              </a:rPr>
              <a:t>等工具进行本地文档的全文搜索。</a:t>
            </a:r>
          </a:p>
          <a:p>
            <a:pPr algn="l">
              <a:lnSpc>
                <a:spcPts val="1800"/>
              </a:lnSpc>
              <a:spcBef>
                <a:spcPts val="0"/>
              </a:spcBef>
            </a:pPr>
            <a:r>
              <a:rPr lang="zh-CN" altLang="en-US" b="0" i="0" dirty="0">
                <a:solidFill>
                  <a:srgbClr val="060607"/>
                </a:solidFill>
                <a:effectLst/>
                <a:latin typeface="-apple-system"/>
              </a:rPr>
              <a:t>通过这些步骤和工具，全文检索能够有效地在大量文本数据中快速找到用户需要的信息，极大地提高了信息检索的效率和准确性</a:t>
            </a:r>
            <a:r>
              <a:rPr lang="en-US" altLang="zh-CN" b="0" i="0" dirty="0">
                <a:solidFill>
                  <a:srgbClr val="060607"/>
                </a:solidFill>
                <a:effectLst/>
                <a:latin typeface="-apple-system"/>
              </a:rPr>
              <a:t>.</a:t>
            </a:r>
          </a:p>
          <a:p>
            <a:pPr>
              <a:spcBef>
                <a:spcPts val="0"/>
              </a:spcBef>
            </a:pPr>
            <a:endParaRPr lang="zh-CN" altLang="en-US" dirty="0"/>
          </a:p>
        </p:txBody>
      </p:sp>
    </p:spTree>
    <p:extLst>
      <p:ext uri="{BB962C8B-B14F-4D97-AF65-F5344CB8AC3E}">
        <p14:creationId xmlns:p14="http://schemas.microsoft.com/office/powerpoint/2010/main" val="351631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DA37E-89F8-DC12-AC62-C53B03B1CBC2}"/>
              </a:ext>
            </a:extLst>
          </p:cNvPr>
          <p:cNvSpPr>
            <a:spLocks noGrp="1"/>
          </p:cNvSpPr>
          <p:nvPr>
            <p:ph type="title"/>
          </p:nvPr>
        </p:nvSpPr>
        <p:spPr/>
        <p:txBody>
          <a:bodyPr>
            <a:normAutofit/>
          </a:bodyPr>
          <a:lstStyle/>
          <a:p>
            <a:r>
              <a:rPr lang="zh-CN" altLang="en-US" sz="2800" dirty="0"/>
              <a:t>二、支持动态知识库</a:t>
            </a:r>
          </a:p>
        </p:txBody>
      </p:sp>
      <p:sp>
        <p:nvSpPr>
          <p:cNvPr id="3" name="内容占位符 2">
            <a:extLst>
              <a:ext uri="{FF2B5EF4-FFF2-40B4-BE49-F238E27FC236}">
                <a16:creationId xmlns:a16="http://schemas.microsoft.com/office/drawing/2014/main" id="{8537F61A-D765-07DA-B671-D5BF547F192B}"/>
              </a:ext>
            </a:extLst>
          </p:cNvPr>
          <p:cNvSpPr>
            <a:spLocks noGrp="1"/>
          </p:cNvSpPr>
          <p:nvPr>
            <p:ph idx="1"/>
          </p:nvPr>
        </p:nvSpPr>
        <p:spPr>
          <a:xfrm>
            <a:off x="778726" y="1580298"/>
            <a:ext cx="8322243" cy="4351338"/>
          </a:xfrm>
        </p:spPr>
        <p:txBody>
          <a:bodyPr>
            <a:normAutofit/>
          </a:bodyPr>
          <a:lstStyle/>
          <a:p>
            <a:r>
              <a:rPr lang="zh-CN" altLang="en-US" sz="1800" dirty="0"/>
              <a:t>可以在工作流中根据用户上传的内容动态生成新的知识库，方便增加智能体的知识容量，以及利用知识库的检索功能来回答问题</a:t>
            </a:r>
            <a:endParaRPr lang="en-US" altLang="zh-CN" sz="1800" dirty="0"/>
          </a:p>
          <a:p>
            <a:r>
              <a:rPr lang="zh-CN" altLang="en-US" sz="1800" dirty="0"/>
              <a:t>目前京东智能体的文档解析功能支持将上传的文件转化为大模型能理解的文本，但不能固化信息，且检索长文本的能力有待测试，以及文本中的图片格式内容能否正确理解</a:t>
            </a:r>
            <a:endParaRPr lang="en-US" altLang="zh-CN" sz="1800" dirty="0"/>
          </a:p>
          <a:p>
            <a:endParaRPr lang="zh-CN" altLang="en-US" sz="1800" dirty="0"/>
          </a:p>
        </p:txBody>
      </p:sp>
      <p:pic>
        <p:nvPicPr>
          <p:cNvPr id="5" name="图片 4">
            <a:extLst>
              <a:ext uri="{FF2B5EF4-FFF2-40B4-BE49-F238E27FC236}">
                <a16:creationId xmlns:a16="http://schemas.microsoft.com/office/drawing/2014/main" id="{A777EBB9-111E-2B67-3C0E-4282A6D9F96E}"/>
              </a:ext>
            </a:extLst>
          </p:cNvPr>
          <p:cNvPicPr>
            <a:picLocks noChangeAspect="1"/>
          </p:cNvPicPr>
          <p:nvPr/>
        </p:nvPicPr>
        <p:blipFill>
          <a:blip r:embed="rId2"/>
          <a:stretch>
            <a:fillRect/>
          </a:stretch>
        </p:blipFill>
        <p:spPr>
          <a:xfrm>
            <a:off x="423746" y="3773957"/>
            <a:ext cx="8601307" cy="2246038"/>
          </a:xfrm>
          <a:prstGeom prst="rect">
            <a:avLst/>
          </a:prstGeom>
        </p:spPr>
      </p:pic>
      <p:pic>
        <p:nvPicPr>
          <p:cNvPr id="7" name="图片 6">
            <a:extLst>
              <a:ext uri="{FF2B5EF4-FFF2-40B4-BE49-F238E27FC236}">
                <a16:creationId xmlns:a16="http://schemas.microsoft.com/office/drawing/2014/main" id="{6B3A5BF2-9887-9724-DB72-EF63B6A9CBCD}"/>
              </a:ext>
            </a:extLst>
          </p:cNvPr>
          <p:cNvPicPr>
            <a:picLocks noChangeAspect="1"/>
          </p:cNvPicPr>
          <p:nvPr/>
        </p:nvPicPr>
        <p:blipFill>
          <a:blip r:embed="rId3"/>
          <a:stretch>
            <a:fillRect/>
          </a:stretch>
        </p:blipFill>
        <p:spPr>
          <a:xfrm>
            <a:off x="9100969" y="453484"/>
            <a:ext cx="2912610" cy="5839522"/>
          </a:xfrm>
          <a:prstGeom prst="rect">
            <a:avLst/>
          </a:prstGeom>
        </p:spPr>
      </p:pic>
    </p:spTree>
    <p:extLst>
      <p:ext uri="{BB962C8B-B14F-4D97-AF65-F5344CB8AC3E}">
        <p14:creationId xmlns:p14="http://schemas.microsoft.com/office/powerpoint/2010/main" val="824052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4D814-77B4-10A0-96C9-266F27193531}"/>
              </a:ext>
            </a:extLst>
          </p:cNvPr>
          <p:cNvSpPr>
            <a:spLocks noGrp="1"/>
          </p:cNvSpPr>
          <p:nvPr>
            <p:ph type="title"/>
          </p:nvPr>
        </p:nvSpPr>
        <p:spPr/>
        <p:txBody>
          <a:bodyPr>
            <a:normAutofit/>
          </a:bodyPr>
          <a:lstStyle/>
          <a:p>
            <a:r>
              <a:rPr lang="zh-CN" altLang="en-US" sz="2800" dirty="0"/>
              <a:t>三、针对插件的开发以及大模型使用插件的能力</a:t>
            </a:r>
          </a:p>
        </p:txBody>
      </p:sp>
      <p:sp>
        <p:nvSpPr>
          <p:cNvPr id="3" name="内容占位符 2">
            <a:extLst>
              <a:ext uri="{FF2B5EF4-FFF2-40B4-BE49-F238E27FC236}">
                <a16:creationId xmlns:a16="http://schemas.microsoft.com/office/drawing/2014/main" id="{266E63C6-D6E6-7FBF-3242-B696CA532502}"/>
              </a:ext>
            </a:extLst>
          </p:cNvPr>
          <p:cNvSpPr>
            <a:spLocks noGrp="1"/>
          </p:cNvSpPr>
          <p:nvPr>
            <p:ph idx="1"/>
          </p:nvPr>
        </p:nvSpPr>
        <p:spPr/>
        <p:txBody>
          <a:bodyPr>
            <a:normAutofit/>
          </a:bodyPr>
          <a:lstStyle/>
          <a:p>
            <a:r>
              <a:rPr lang="zh-CN" altLang="en-US" sz="1600" dirty="0"/>
              <a:t>丰富实用的插件生态库是支撑智能体的重要力量</a:t>
            </a:r>
            <a:endParaRPr lang="en-US" altLang="zh-CN" sz="1600" dirty="0"/>
          </a:p>
          <a:p>
            <a:r>
              <a:rPr lang="zh-CN" altLang="en-US" sz="1600" dirty="0"/>
              <a:t>不同大模型针对插件的支持能力不同</a:t>
            </a:r>
          </a:p>
        </p:txBody>
      </p:sp>
      <p:pic>
        <p:nvPicPr>
          <p:cNvPr id="5" name="图片 4">
            <a:extLst>
              <a:ext uri="{FF2B5EF4-FFF2-40B4-BE49-F238E27FC236}">
                <a16:creationId xmlns:a16="http://schemas.microsoft.com/office/drawing/2014/main" id="{9465119E-AA00-9BD7-F994-8DA0A30A2A08}"/>
              </a:ext>
            </a:extLst>
          </p:cNvPr>
          <p:cNvPicPr>
            <a:picLocks noChangeAspect="1"/>
          </p:cNvPicPr>
          <p:nvPr/>
        </p:nvPicPr>
        <p:blipFill>
          <a:blip r:embed="rId2"/>
          <a:stretch>
            <a:fillRect/>
          </a:stretch>
        </p:blipFill>
        <p:spPr>
          <a:xfrm>
            <a:off x="838200" y="2781068"/>
            <a:ext cx="5976525" cy="3530832"/>
          </a:xfrm>
          <a:prstGeom prst="rect">
            <a:avLst/>
          </a:prstGeom>
        </p:spPr>
      </p:pic>
      <p:pic>
        <p:nvPicPr>
          <p:cNvPr id="6" name="图片 5">
            <a:extLst>
              <a:ext uri="{FF2B5EF4-FFF2-40B4-BE49-F238E27FC236}">
                <a16:creationId xmlns:a16="http://schemas.microsoft.com/office/drawing/2014/main" id="{5E55DCEE-1D09-D8D1-4DD1-0154A01DD641}"/>
              </a:ext>
            </a:extLst>
          </p:cNvPr>
          <p:cNvPicPr>
            <a:picLocks noChangeAspect="1"/>
          </p:cNvPicPr>
          <p:nvPr/>
        </p:nvPicPr>
        <p:blipFill>
          <a:blip r:embed="rId3"/>
          <a:stretch>
            <a:fillRect/>
          </a:stretch>
        </p:blipFill>
        <p:spPr>
          <a:xfrm>
            <a:off x="7746201" y="1178084"/>
            <a:ext cx="3843633" cy="5468971"/>
          </a:xfrm>
          <a:prstGeom prst="rect">
            <a:avLst/>
          </a:prstGeom>
        </p:spPr>
      </p:pic>
    </p:spTree>
    <p:extLst>
      <p:ext uri="{BB962C8B-B14F-4D97-AF65-F5344CB8AC3E}">
        <p14:creationId xmlns:p14="http://schemas.microsoft.com/office/powerpoint/2010/main" val="1242036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1EDB5B-C541-212D-61D0-8199D140127E}"/>
              </a:ext>
            </a:extLst>
          </p:cNvPr>
          <p:cNvSpPr>
            <a:spLocks noGrp="1"/>
          </p:cNvSpPr>
          <p:nvPr>
            <p:ph type="title"/>
          </p:nvPr>
        </p:nvSpPr>
        <p:spPr/>
        <p:txBody>
          <a:bodyPr>
            <a:normAutofit/>
          </a:bodyPr>
          <a:lstStyle/>
          <a:p>
            <a:r>
              <a:rPr lang="zh-CN" altLang="en-US" sz="2800" dirty="0"/>
              <a:t>四、更广的数据来源</a:t>
            </a:r>
          </a:p>
        </p:txBody>
      </p:sp>
      <p:sp>
        <p:nvSpPr>
          <p:cNvPr id="3" name="内容占位符 2">
            <a:extLst>
              <a:ext uri="{FF2B5EF4-FFF2-40B4-BE49-F238E27FC236}">
                <a16:creationId xmlns:a16="http://schemas.microsoft.com/office/drawing/2014/main" id="{CF9B20BD-F57D-0D66-B2F4-999B9B512B2B}"/>
              </a:ext>
            </a:extLst>
          </p:cNvPr>
          <p:cNvSpPr>
            <a:spLocks noGrp="1"/>
          </p:cNvSpPr>
          <p:nvPr>
            <p:ph idx="1"/>
          </p:nvPr>
        </p:nvSpPr>
        <p:spPr/>
        <p:txBody>
          <a:bodyPr>
            <a:normAutofit/>
          </a:bodyPr>
          <a:lstStyle/>
          <a:p>
            <a:r>
              <a:rPr lang="zh-CN" altLang="en-US" sz="1800" dirty="0"/>
              <a:t>大模型经常需要来自外部的信息来源，目前主要来自：</a:t>
            </a:r>
            <a:r>
              <a:rPr lang="en-US" altLang="zh-CN" sz="1800" dirty="0"/>
              <a:t>1</a:t>
            </a:r>
            <a:r>
              <a:rPr lang="zh-CN" altLang="en-US" sz="1800" dirty="0"/>
              <a:t>、智能体知识库 </a:t>
            </a:r>
            <a:r>
              <a:rPr lang="en-US" altLang="zh-CN" sz="1800" dirty="0"/>
              <a:t>2</a:t>
            </a:r>
            <a:r>
              <a:rPr lang="zh-CN" altLang="en-US" sz="1800" dirty="0"/>
              <a:t>、搜索引擎</a:t>
            </a:r>
            <a:endParaRPr lang="en-US" altLang="zh-CN" sz="1800" dirty="0"/>
          </a:p>
          <a:p>
            <a:r>
              <a:rPr lang="zh-CN" altLang="en-US" sz="1800" dirty="0"/>
              <a:t>是否可以扩大京东的知识来源范围，从更可靠的数据站增强智能体的检索知识能力</a:t>
            </a:r>
          </a:p>
        </p:txBody>
      </p:sp>
      <p:pic>
        <p:nvPicPr>
          <p:cNvPr id="5" name="图片 4">
            <a:extLst>
              <a:ext uri="{FF2B5EF4-FFF2-40B4-BE49-F238E27FC236}">
                <a16:creationId xmlns:a16="http://schemas.microsoft.com/office/drawing/2014/main" id="{2F3E4B52-EDC4-30BF-AC01-C03D565E5AA7}"/>
              </a:ext>
            </a:extLst>
          </p:cNvPr>
          <p:cNvPicPr>
            <a:picLocks noChangeAspect="1"/>
          </p:cNvPicPr>
          <p:nvPr/>
        </p:nvPicPr>
        <p:blipFill>
          <a:blip r:embed="rId2"/>
          <a:stretch>
            <a:fillRect/>
          </a:stretch>
        </p:blipFill>
        <p:spPr>
          <a:xfrm>
            <a:off x="741533" y="2683726"/>
            <a:ext cx="5845006" cy="4040459"/>
          </a:xfrm>
          <a:prstGeom prst="rect">
            <a:avLst/>
          </a:prstGeom>
        </p:spPr>
      </p:pic>
      <p:pic>
        <p:nvPicPr>
          <p:cNvPr id="7" name="图片 6">
            <a:extLst>
              <a:ext uri="{FF2B5EF4-FFF2-40B4-BE49-F238E27FC236}">
                <a16:creationId xmlns:a16="http://schemas.microsoft.com/office/drawing/2014/main" id="{3D821BE8-62CB-DA40-C1D9-4E228FDA0401}"/>
              </a:ext>
            </a:extLst>
          </p:cNvPr>
          <p:cNvPicPr>
            <a:picLocks noChangeAspect="1"/>
          </p:cNvPicPr>
          <p:nvPr/>
        </p:nvPicPr>
        <p:blipFill>
          <a:blip r:embed="rId3"/>
          <a:stretch>
            <a:fillRect/>
          </a:stretch>
        </p:blipFill>
        <p:spPr>
          <a:xfrm>
            <a:off x="6683206" y="3152077"/>
            <a:ext cx="5494878" cy="2920807"/>
          </a:xfrm>
          <a:prstGeom prst="rect">
            <a:avLst/>
          </a:prstGeom>
        </p:spPr>
      </p:pic>
      <p:cxnSp>
        <p:nvCxnSpPr>
          <p:cNvPr id="9" name="直接连接符 8">
            <a:extLst>
              <a:ext uri="{FF2B5EF4-FFF2-40B4-BE49-F238E27FC236}">
                <a16:creationId xmlns:a16="http://schemas.microsoft.com/office/drawing/2014/main" id="{96E38BCE-8771-324E-05C2-70E3A37ED139}"/>
              </a:ext>
            </a:extLst>
          </p:cNvPr>
          <p:cNvCxnSpPr/>
          <p:nvPr/>
        </p:nvCxnSpPr>
        <p:spPr>
          <a:xfrm>
            <a:off x="6586539" y="2594517"/>
            <a:ext cx="0" cy="4263483"/>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98065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31B7C1-AD30-3B9C-6BD2-63DA4B5DAFD7}"/>
              </a:ext>
            </a:extLst>
          </p:cNvPr>
          <p:cNvSpPr>
            <a:spLocks noGrp="1"/>
          </p:cNvSpPr>
          <p:nvPr>
            <p:ph type="title"/>
          </p:nvPr>
        </p:nvSpPr>
        <p:spPr/>
        <p:txBody>
          <a:bodyPr>
            <a:normAutofit/>
          </a:bodyPr>
          <a:lstStyle/>
          <a:p>
            <a:r>
              <a:rPr lang="zh-CN" altLang="en-US" sz="2800" dirty="0"/>
              <a:t>五、固化数据的能力</a:t>
            </a:r>
          </a:p>
        </p:txBody>
      </p:sp>
      <p:sp>
        <p:nvSpPr>
          <p:cNvPr id="3" name="内容占位符 2">
            <a:extLst>
              <a:ext uri="{FF2B5EF4-FFF2-40B4-BE49-F238E27FC236}">
                <a16:creationId xmlns:a16="http://schemas.microsoft.com/office/drawing/2014/main" id="{F2337B89-3F3B-A4DB-1400-4869C700B18A}"/>
              </a:ext>
            </a:extLst>
          </p:cNvPr>
          <p:cNvSpPr>
            <a:spLocks noGrp="1"/>
          </p:cNvSpPr>
          <p:nvPr>
            <p:ph idx="1"/>
          </p:nvPr>
        </p:nvSpPr>
        <p:spPr>
          <a:xfrm>
            <a:off x="838200" y="1557996"/>
            <a:ext cx="10515600" cy="4351338"/>
          </a:xfrm>
        </p:spPr>
        <p:txBody>
          <a:bodyPr>
            <a:normAutofit/>
          </a:bodyPr>
          <a:lstStyle/>
          <a:p>
            <a:r>
              <a:rPr lang="zh-CN" altLang="en-US" sz="1800" dirty="0"/>
              <a:t>扣子智能体直接支持数据库存储、</a:t>
            </a:r>
            <a:r>
              <a:rPr lang="en-US" altLang="zh-CN" sz="1800" dirty="0" err="1"/>
              <a:t>sql</a:t>
            </a:r>
            <a:r>
              <a:rPr lang="zh-CN" altLang="en-US" sz="1800" dirty="0"/>
              <a:t>查询，能将每次回答的结果存入关系型数据库，或者调用数据库回答问题</a:t>
            </a:r>
            <a:endParaRPr lang="en-US" altLang="zh-CN" sz="1800" dirty="0"/>
          </a:p>
          <a:p>
            <a:r>
              <a:rPr lang="zh-CN" altLang="en-US" sz="1800" dirty="0"/>
              <a:t>但这些数据库彼此孤立无法联表，也无法对接本地大数据库</a:t>
            </a:r>
            <a:endParaRPr lang="en-US" altLang="zh-CN" sz="1800" dirty="0"/>
          </a:p>
          <a:p>
            <a:endParaRPr lang="zh-CN" altLang="en-US" sz="1800" dirty="0"/>
          </a:p>
        </p:txBody>
      </p:sp>
      <p:pic>
        <p:nvPicPr>
          <p:cNvPr id="5" name="图片 4">
            <a:extLst>
              <a:ext uri="{FF2B5EF4-FFF2-40B4-BE49-F238E27FC236}">
                <a16:creationId xmlns:a16="http://schemas.microsoft.com/office/drawing/2014/main" id="{8C8A8700-AA32-7DB5-7DAC-5472C3833F6D}"/>
              </a:ext>
            </a:extLst>
          </p:cNvPr>
          <p:cNvPicPr>
            <a:picLocks noChangeAspect="1"/>
          </p:cNvPicPr>
          <p:nvPr/>
        </p:nvPicPr>
        <p:blipFill>
          <a:blip r:embed="rId2"/>
          <a:stretch>
            <a:fillRect/>
          </a:stretch>
        </p:blipFill>
        <p:spPr>
          <a:xfrm>
            <a:off x="1999786" y="2879311"/>
            <a:ext cx="6965795" cy="3747295"/>
          </a:xfrm>
          <a:prstGeom prst="rect">
            <a:avLst/>
          </a:prstGeom>
        </p:spPr>
      </p:pic>
    </p:spTree>
    <p:extLst>
      <p:ext uri="{BB962C8B-B14F-4D97-AF65-F5344CB8AC3E}">
        <p14:creationId xmlns:p14="http://schemas.microsoft.com/office/powerpoint/2010/main" val="45518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B5A037-D331-74C7-B494-DF1127477FD2}"/>
              </a:ext>
            </a:extLst>
          </p:cNvPr>
          <p:cNvSpPr>
            <a:spLocks noGrp="1"/>
          </p:cNvSpPr>
          <p:nvPr>
            <p:ph type="title"/>
          </p:nvPr>
        </p:nvSpPr>
        <p:spPr/>
        <p:txBody>
          <a:bodyPr>
            <a:normAutofit/>
          </a:bodyPr>
          <a:lstStyle/>
          <a:p>
            <a:r>
              <a:rPr lang="zh-CN" altLang="en-US" sz="2800" dirty="0"/>
              <a:t>六、生成高质量回答</a:t>
            </a:r>
          </a:p>
        </p:txBody>
      </p:sp>
      <p:sp>
        <p:nvSpPr>
          <p:cNvPr id="3" name="内容占位符 2">
            <a:extLst>
              <a:ext uri="{FF2B5EF4-FFF2-40B4-BE49-F238E27FC236}">
                <a16:creationId xmlns:a16="http://schemas.microsoft.com/office/drawing/2014/main" id="{46313611-86FE-B7B3-3785-FBCEC846C855}"/>
              </a:ext>
            </a:extLst>
          </p:cNvPr>
          <p:cNvSpPr>
            <a:spLocks noGrp="1"/>
          </p:cNvSpPr>
          <p:nvPr>
            <p:ph idx="1"/>
          </p:nvPr>
        </p:nvSpPr>
        <p:spPr>
          <a:xfrm>
            <a:off x="838200" y="1409313"/>
            <a:ext cx="10515600" cy="4351338"/>
          </a:xfrm>
        </p:spPr>
        <p:txBody>
          <a:bodyPr>
            <a:normAutofit/>
          </a:bodyPr>
          <a:lstStyle/>
          <a:p>
            <a:r>
              <a:rPr lang="zh-CN" altLang="en-US" sz="1800" dirty="0"/>
              <a:t>对于用户来说，智能体带来的好处集中在：</a:t>
            </a:r>
            <a:r>
              <a:rPr lang="en-US" altLang="zh-CN" sz="1800" dirty="0"/>
              <a:t>1</a:t>
            </a:r>
            <a:r>
              <a:rPr lang="zh-CN" altLang="en-US" sz="1800" dirty="0"/>
              <a:t>、多个大模型协同解耦任务 </a:t>
            </a:r>
            <a:r>
              <a:rPr lang="en-US" altLang="zh-CN" sz="1800" dirty="0"/>
              <a:t>2</a:t>
            </a:r>
            <a:r>
              <a:rPr lang="zh-CN" altLang="en-US" sz="1800" dirty="0"/>
              <a:t>、通过固化的或者开放的知识引擎来达到信息增强</a:t>
            </a:r>
            <a:endParaRPr lang="en-US" altLang="zh-CN" sz="1800" dirty="0"/>
          </a:p>
          <a:p>
            <a:r>
              <a:rPr lang="zh-CN" altLang="en-US" sz="1800" dirty="0"/>
              <a:t>除此之外，是否可以考虑利用智能体的好处来生成更高质量的文本回答</a:t>
            </a:r>
          </a:p>
        </p:txBody>
      </p:sp>
    </p:spTree>
    <p:extLst>
      <p:ext uri="{BB962C8B-B14F-4D97-AF65-F5344CB8AC3E}">
        <p14:creationId xmlns:p14="http://schemas.microsoft.com/office/powerpoint/2010/main" val="2707427460"/>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23364</TotalTime>
  <Words>6477</Words>
  <Application>Microsoft Office PowerPoint</Application>
  <PresentationFormat>宽屏</PresentationFormat>
  <Paragraphs>177</Paragraphs>
  <Slides>31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31</vt:i4>
      </vt:variant>
    </vt:vector>
  </HeadingPairs>
  <TitlesOfParts>
    <vt:vector size="36" baseType="lpstr">
      <vt:lpstr>-apple-system</vt:lpstr>
      <vt:lpstr>PingFang SC</vt:lpstr>
      <vt:lpstr>Arial</vt:lpstr>
      <vt:lpstr>Calibri</vt:lpstr>
      <vt:lpstr>WPS</vt:lpstr>
      <vt:lpstr>Agent是什么</vt:lpstr>
      <vt:lpstr>PowerPoint 演示文稿</vt:lpstr>
      <vt:lpstr>PowerPoint 演示文稿</vt:lpstr>
      <vt:lpstr>PowerPoint 演示文稿</vt:lpstr>
      <vt:lpstr>多Agent模式</vt:lpstr>
      <vt:lpstr>PowerPoint 演示文稿</vt:lpstr>
      <vt:lpstr>Agent商业应用</vt:lpstr>
      <vt:lpstr>一、信息服务提供商</vt:lpstr>
      <vt:lpstr>二、商品挂载</vt:lpstr>
      <vt:lpstr>三、线索转化</vt:lpstr>
      <vt:lpstr>PowerPoint 演示文稿</vt:lpstr>
      <vt:lpstr>PowerPoint 演示文稿</vt:lpstr>
      <vt:lpstr>PowerPoint 演示文稿</vt:lpstr>
      <vt:lpstr>智能体幻觉纠正</vt:lpstr>
      <vt:lpstr>PowerPoint 演示文稿</vt:lpstr>
      <vt:lpstr>PowerPoint 演示文稿</vt:lpstr>
      <vt:lpstr>验证插件的独立性</vt:lpstr>
      <vt:lpstr>PowerPoint 演示文稿</vt:lpstr>
      <vt:lpstr>智能体的诚实性测试</vt:lpstr>
      <vt:lpstr>PowerPoint 演示文稿</vt:lpstr>
      <vt:lpstr>PowerPoint 演示文稿</vt:lpstr>
      <vt:lpstr>问题回答</vt:lpstr>
      <vt:lpstr>PowerPoint 演示文稿</vt:lpstr>
      <vt:lpstr>PowerPoint 演示文稿</vt:lpstr>
      <vt:lpstr>针对京东智能体的产品区分功能</vt:lpstr>
      <vt:lpstr>一、支持全文检索知识库</vt:lpstr>
      <vt:lpstr>二、支持动态知识库</vt:lpstr>
      <vt:lpstr>三、针对插件的开发以及大模型使用插件的能力</vt:lpstr>
      <vt:lpstr>四、更广的数据来源</vt:lpstr>
      <vt:lpstr>五、固化数据的能力</vt:lpstr>
      <vt:lpstr>六、生成高质量回答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郑小都</dc:creator>
  <cp:lastModifiedBy>小都 郑</cp:lastModifiedBy>
  <cp:revision>27</cp:revision>
  <dcterms:created xsi:type="dcterms:W3CDTF">2023-08-09T12:44:55Z</dcterms:created>
  <dcterms:modified xsi:type="dcterms:W3CDTF">2025-01-07T10:02:37Z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2052-12.1.0.15259</vt:lpwstr>
  </property>
</Properties>
</file>